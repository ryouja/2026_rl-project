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12" r:id="rId1"/>
  </p:sldMasterIdLst>
  <p:notesMasterIdLst>
    <p:notesMasterId r:id="rId17"/>
  </p:notesMasterIdLst>
  <p:sldIdLst>
    <p:sldId id="256" r:id="rId2"/>
    <p:sldId id="261" r:id="rId3"/>
    <p:sldId id="263" r:id="rId4"/>
    <p:sldId id="275" r:id="rId5"/>
    <p:sldId id="264" r:id="rId6"/>
    <p:sldId id="272" r:id="rId7"/>
    <p:sldId id="271" r:id="rId8"/>
    <p:sldId id="266" r:id="rId9"/>
    <p:sldId id="262" r:id="rId10"/>
    <p:sldId id="267" r:id="rId11"/>
    <p:sldId id="273" r:id="rId12"/>
    <p:sldId id="268" r:id="rId13"/>
    <p:sldId id="274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0AF"/>
    <a:srgbClr val="F2F5FA"/>
    <a:srgbClr val="FFFFFF"/>
    <a:srgbClr val="E3E9F1"/>
    <a:srgbClr val="1A56DB"/>
    <a:srgbClr val="FFC001"/>
    <a:srgbClr val="FFC000"/>
    <a:srgbClr val="DEFF9A"/>
    <a:srgbClr val="BBFF84"/>
    <a:srgbClr val="C8FF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86"/>
    <p:restoredTop sz="94658"/>
  </p:normalViewPr>
  <p:slideViewPr>
    <p:cSldViewPr snapToGrid="0">
      <p:cViewPr varScale="1">
        <p:scale>
          <a:sx n="106" d="100"/>
          <a:sy n="106" d="100"/>
        </p:scale>
        <p:origin x="24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732AD-BCEF-0E43-84DF-7014EEB41A44}" type="datetimeFigureOut">
              <a:rPr kumimoji="1" lang="ko-KR" altLang="en-US" smtClean="0"/>
              <a:t>2026. 6. 6.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03F751-7560-4E4E-B78B-984D6CB87AB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4248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3F751-7560-4E4E-B78B-984D6CB87ABB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4864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3F751-7560-4E4E-B78B-984D6CB87ABB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00105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3F751-7560-4E4E-B78B-984D6CB87ABB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405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3F751-7560-4E4E-B78B-984D6CB87ABB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9888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3F751-7560-4E4E-B78B-984D6CB87ABB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4553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E313C07-7B33-4C88-E80B-071CBE91F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F593E201-559E-0407-DE69-39ABB5DBC7C5}"/>
              </a:ext>
            </a:extLst>
          </p:cNvPr>
          <p:cNvSpPr txBox="1">
            <a:spLocks/>
          </p:cNvSpPr>
          <p:nvPr userDrawn="1"/>
        </p:nvSpPr>
        <p:spPr>
          <a:xfrm>
            <a:off x="5142000" y="6575446"/>
            <a:ext cx="1908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A70052 </a:t>
            </a:r>
            <a:r>
              <a:rPr kumimoji="1"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류정아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97A0D7B-2093-F41F-71EB-A8CC47CFEA42}"/>
              </a:ext>
            </a:extLst>
          </p:cNvPr>
          <p:cNvSpPr txBox="1">
            <a:spLocks/>
          </p:cNvSpPr>
          <p:nvPr userDrawn="1"/>
        </p:nvSpPr>
        <p:spPr>
          <a:xfrm>
            <a:off x="696000" y="6575446"/>
            <a:ext cx="1908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2026</a:t>
            </a:r>
            <a:r>
              <a:rPr kumimoji="1"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강화학습 </a:t>
            </a:r>
            <a:r>
              <a:rPr kumimoji="1"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Project</a:t>
            </a:r>
            <a:endParaRPr kumimoji="1" lang="ko-KR" alt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876024-291D-BC92-0320-B42ABE10287B}"/>
              </a:ext>
            </a:extLst>
          </p:cNvPr>
          <p:cNvSpPr/>
          <p:nvPr userDrawn="1"/>
        </p:nvSpPr>
        <p:spPr>
          <a:xfrm>
            <a:off x="696000" y="6480000"/>
            <a:ext cx="10800000" cy="288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33000">
                <a:schemeClr val="accent1">
                  <a:lumMod val="60000"/>
                  <a:lumOff val="40000"/>
                </a:schemeClr>
              </a:gs>
              <a:gs pos="61000">
                <a:srgbClr val="7E8080"/>
              </a:gs>
              <a:gs pos="100000">
                <a:srgbClr val="E3E9F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178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1606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524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9309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1616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C078F08-1D7D-9450-6905-3DD1AFAD0B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108640" y="6489000"/>
            <a:ext cx="1496367" cy="365125"/>
          </a:xfrm>
        </p:spPr>
        <p:txBody>
          <a:bodyPr/>
          <a:lstStyle>
            <a:lvl1pPr>
              <a:defRPr sz="900">
                <a:solidFill>
                  <a:schemeClr val="tx1">
                    <a:lumMod val="85000"/>
                    <a:lumOff val="1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fld id="{7C3BB646-B345-AC44-B5C9-69350B59752E}" type="slidenum">
              <a:rPr kumimoji="1" lang="ko-KR" altLang="en-US" smtClean="0"/>
              <a:pPr/>
              <a:t>‹#›</a:t>
            </a:fld>
            <a:endParaRPr kumimoji="1" lang="ko-KR" altLang="en-US" sz="40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32B0E15-6798-67AE-598B-36703C6FEB76}"/>
              </a:ext>
            </a:extLst>
          </p:cNvPr>
          <p:cNvSpPr txBox="1">
            <a:spLocks/>
          </p:cNvSpPr>
          <p:nvPr userDrawn="1"/>
        </p:nvSpPr>
        <p:spPr>
          <a:xfrm>
            <a:off x="5142000" y="6575446"/>
            <a:ext cx="1908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A70052 </a:t>
            </a:r>
            <a:r>
              <a:rPr kumimoji="1"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류정아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8666ABE-2E75-FD18-C0A1-635856E2280A}"/>
              </a:ext>
            </a:extLst>
          </p:cNvPr>
          <p:cNvSpPr txBox="1">
            <a:spLocks/>
          </p:cNvSpPr>
          <p:nvPr userDrawn="1"/>
        </p:nvSpPr>
        <p:spPr>
          <a:xfrm>
            <a:off x="696000" y="6575446"/>
            <a:ext cx="1908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2026</a:t>
            </a:r>
            <a:r>
              <a:rPr kumimoji="1"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강화학습 </a:t>
            </a:r>
            <a:r>
              <a:rPr kumimoji="1"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Project</a:t>
            </a:r>
            <a:endParaRPr kumimoji="1" lang="ko-KR" alt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08FC774-F1A9-4A3A-D0BA-BAFCB0EFE58D}"/>
              </a:ext>
            </a:extLst>
          </p:cNvPr>
          <p:cNvSpPr/>
          <p:nvPr userDrawn="1"/>
        </p:nvSpPr>
        <p:spPr>
          <a:xfrm>
            <a:off x="696000" y="6480000"/>
            <a:ext cx="10800000" cy="288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33000">
                <a:schemeClr val="accent1">
                  <a:lumMod val="60000"/>
                  <a:lumOff val="40000"/>
                </a:schemeClr>
              </a:gs>
              <a:gs pos="61000">
                <a:srgbClr val="7E8080"/>
              </a:gs>
              <a:gs pos="100000">
                <a:srgbClr val="E3E9F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200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540042-F726-3D44-F801-39823A213487}"/>
              </a:ext>
            </a:extLst>
          </p:cNvPr>
          <p:cNvSpPr/>
          <p:nvPr userDrawn="1"/>
        </p:nvSpPr>
        <p:spPr>
          <a:xfrm>
            <a:off x="576000" y="360000"/>
            <a:ext cx="108000" cy="72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76527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1B4A664-FF06-7FA5-108F-C39404122A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562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4277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4403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0940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51580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BB646-B345-AC44-B5C9-69350B59752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03818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6" r:id="rId1"/>
    <p:sldLayoutId id="2147484114" r:id="rId2"/>
    <p:sldLayoutId id="2147484115" r:id="rId3"/>
    <p:sldLayoutId id="2147484116" r:id="rId4"/>
    <p:sldLayoutId id="2147484117" r:id="rId5"/>
    <p:sldLayoutId id="2147484125" r:id="rId6"/>
    <p:sldLayoutId id="2147484119" r:id="rId7"/>
    <p:sldLayoutId id="2147484120" r:id="rId8"/>
    <p:sldLayoutId id="2147484121" r:id="rId9"/>
    <p:sldLayoutId id="2147484122" r:id="rId10"/>
    <p:sldLayoutId id="214748412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DEE88E-EA96-2A47-EBAF-8C9A878D48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30000"/>
              </a:lnSpc>
            </a:pPr>
            <a:r>
              <a:rPr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  <a:cs typeface="Urbanist Medium"/>
                <a:sym typeface="Urbanist Medium"/>
              </a:rPr>
              <a:t>강화학습 기반</a:t>
            </a:r>
            <a:br>
              <a:rPr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  <a:sym typeface="Calibri"/>
              </a:rPr>
            </a:br>
            <a:r>
              <a:rPr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  <a:cs typeface="Urbanist Medium"/>
                <a:sym typeface="Urbanist Medium"/>
              </a:rPr>
              <a:t>분자 경로 탐색</a:t>
            </a:r>
            <a:r>
              <a:rPr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  <a:cs typeface="Urbanist Medium"/>
                <a:sym typeface="Urbanist Medium"/>
              </a:rPr>
              <a:t> </a:t>
            </a:r>
            <a:r>
              <a:rPr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  <a:cs typeface="Urbanist Medium"/>
                <a:sym typeface="Urbanist Medium"/>
              </a:rPr>
              <a:t>및 물성 최적화</a:t>
            </a:r>
            <a:endParaRPr kumimoji="1" lang="ko-KR" altLang="en-US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0FD47E-B59D-0AAA-E625-FFF8FDEA9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2294"/>
            <a:ext cx="9144000" cy="1335505"/>
          </a:xfrm>
        </p:spPr>
        <p:txBody>
          <a:bodyPr anchor="t">
            <a:normAutofit/>
          </a:bodyPr>
          <a:lstStyle/>
          <a:p>
            <a:r>
              <a:rPr lang="en-US" altLang="ko-KR" sz="2000" dirty="0">
                <a:solidFill>
                  <a:schemeClr val="accent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Urbanist Light"/>
                <a:sym typeface="Urbanist Light"/>
              </a:rPr>
              <a:t>DQN</a:t>
            </a:r>
            <a:r>
              <a:rPr lang="ko-KR" altLang="en-US" sz="2000" dirty="0">
                <a:solidFill>
                  <a:schemeClr val="accent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Urbanist Light"/>
                <a:sym typeface="Urbanist Light"/>
              </a:rPr>
              <a:t>을 활용한 </a:t>
            </a:r>
            <a:r>
              <a:rPr lang="en-US" altLang="ko-KR" sz="2000" dirty="0">
                <a:solidFill>
                  <a:schemeClr val="accent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Urbanist Light"/>
                <a:sym typeface="Urbanist Light"/>
              </a:rPr>
              <a:t>QM9 </a:t>
            </a:r>
            <a:r>
              <a:rPr lang="ko-KR" altLang="en-US" sz="2000" dirty="0">
                <a:solidFill>
                  <a:schemeClr val="accent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Urbanist Light"/>
                <a:sym typeface="Urbanist Light"/>
              </a:rPr>
              <a:t>데이터셋 내 지능적 분자 탐색 전략 학습</a:t>
            </a:r>
          </a:p>
          <a:p>
            <a:endParaRPr lang="en-US" altLang="ko-KR" sz="2000" dirty="0">
              <a:solidFill>
                <a:schemeClr val="accent1"/>
              </a:solidFill>
              <a:latin typeface="NanumGothic" panose="020D0604000000000000" pitchFamily="34" charset="-127"/>
              <a:ea typeface="NanumGothic" panose="020D0604000000000000" pitchFamily="34" charset="-127"/>
              <a:sym typeface="Urbanist Light"/>
            </a:endParaRPr>
          </a:p>
          <a:p>
            <a:r>
              <a:rPr lang="en-US" altLang="ko-KR" sz="2000" dirty="0">
                <a:solidFill>
                  <a:schemeClr val="accent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Urbanist Light"/>
              </a:rPr>
              <a:t>A70052 </a:t>
            </a:r>
            <a:r>
              <a:rPr lang="ko-KR" altLang="en-US" sz="2000" dirty="0">
                <a:solidFill>
                  <a:schemeClr val="accent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Urbanist Light"/>
              </a:rPr>
              <a:t>류정아</a:t>
            </a:r>
            <a:endParaRPr lang="en-US" altLang="ko-KR" sz="2000" dirty="0">
              <a:solidFill>
                <a:schemeClr val="accent1"/>
              </a:solidFill>
              <a:latin typeface="NanumGothic" panose="020D0604000000000000" pitchFamily="34" charset="-127"/>
              <a:ea typeface="NanumGothic" panose="020D0604000000000000" pitchFamily="34" charset="-127"/>
              <a:sym typeface="Urbanist Light"/>
            </a:endParaRPr>
          </a:p>
          <a:p>
            <a:endParaRPr lang="ko-KR" altLang="en-US" sz="2000" dirty="0">
              <a:solidFill>
                <a:schemeClr val="accent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endParaRPr kumimoji="1" lang="ko-KR" altLang="en-US" sz="2000" dirty="0">
              <a:solidFill>
                <a:schemeClr val="accent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C8B87-02C4-5127-F91D-F65AC641185C}"/>
              </a:ext>
            </a:extLst>
          </p:cNvPr>
          <p:cNvSpPr txBox="1"/>
          <p:nvPr/>
        </p:nvSpPr>
        <p:spPr>
          <a:xfrm>
            <a:off x="7619999" y="6142892"/>
            <a:ext cx="44641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:</a:t>
            </a:r>
            <a:r>
              <a:rPr lang="ko-KR" altLang="en-US" sz="1400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" altLang="ko-KR" sz="1400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</a:t>
            </a:r>
            <a:r>
              <a:rPr lang="en" altLang="ko-KR" sz="1400" dirty="0" err="1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</a:t>
            </a:r>
            <a:r>
              <a:rPr lang="en" altLang="ko-KR" sz="1400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" altLang="ko-KR" sz="1400" dirty="0" err="1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ryouja</a:t>
            </a:r>
            <a:r>
              <a:rPr lang="en" altLang="ko-KR" sz="1400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/2026_RL-project</a:t>
            </a:r>
            <a:r>
              <a:rPr lang="ko-KR" altLang="en-US" sz="1400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1" lang="ko-KR" altLang="en-US" sz="1400" dirty="0">
              <a:solidFill>
                <a:srgbClr val="1E40A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154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F4C77D1-E8C4-DEB6-9CBB-5E81F639B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주제 선정 배경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2CF7268-28E2-E145-E558-CA05485939F9}"/>
              </a:ext>
            </a:extLst>
          </p:cNvPr>
          <p:cNvGrpSpPr/>
          <p:nvPr/>
        </p:nvGrpSpPr>
        <p:grpSpPr>
          <a:xfrm>
            <a:off x="540000" y="1440000"/>
            <a:ext cx="11112000" cy="1512000"/>
            <a:chOff x="540000" y="1440000"/>
            <a:chExt cx="11112000" cy="1512000"/>
          </a:xfrm>
          <a:solidFill>
            <a:srgbClr val="F2F5FA"/>
          </a:solidFill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1FEF623F-6686-E021-2C33-EE5ADFBC2DBD}"/>
                </a:ext>
              </a:extLst>
            </p:cNvPr>
            <p:cNvSpPr/>
            <p:nvPr/>
          </p:nvSpPr>
          <p:spPr>
            <a:xfrm>
              <a:off x="540000" y="1440000"/>
              <a:ext cx="3420000" cy="1512000"/>
            </a:xfrm>
            <a:prstGeom prst="rect">
              <a:avLst/>
            </a:prstGeom>
            <a:grpFill/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D74E1695-DD5C-CA84-0925-D143F1ECD3C4}"/>
                </a:ext>
              </a:extLst>
            </p:cNvPr>
            <p:cNvSpPr/>
            <p:nvPr/>
          </p:nvSpPr>
          <p:spPr>
            <a:xfrm>
              <a:off x="540000" y="1512000"/>
              <a:ext cx="3420000" cy="36000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분자 물성 탐색의 중요성</a:t>
              </a:r>
              <a:endParaRPr lang="en-US" sz="16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1011B5-F2C2-0600-77F9-6F6AFF61EB4C}"/>
                </a:ext>
              </a:extLst>
            </p:cNvPr>
            <p:cNvSpPr txBox="1"/>
            <p:nvPr/>
          </p:nvSpPr>
          <p:spPr>
            <a:xfrm>
              <a:off x="540000" y="2088000"/>
              <a:ext cx="3420000" cy="720000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itchFamily="2" charset="2"/>
                <a:buChar char="ü"/>
              </a:pPr>
              <a:r>
                <a:rPr lang="ko-KR" altLang="en-US" sz="14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신소재 개발에서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원하는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물성을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갖는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분자를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찾는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것이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핵심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과제</a:t>
              </a:r>
              <a:endParaRPr lang="en-US" altLang="ko-KR" sz="1400" dirty="0">
                <a:solidFill>
                  <a:schemeClr val="accent1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6DB018C8-C8AB-8917-FCEE-91C8BF9D23CB}"/>
                </a:ext>
              </a:extLst>
            </p:cNvPr>
            <p:cNvSpPr/>
            <p:nvPr/>
          </p:nvSpPr>
          <p:spPr>
            <a:xfrm>
              <a:off x="4386000" y="1440000"/>
              <a:ext cx="3420000" cy="1512000"/>
            </a:xfrm>
            <a:prstGeom prst="rect">
              <a:avLst/>
            </a:prstGeom>
            <a:grpFill/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71713294-6E20-0C2E-F938-EC5B8925E5C0}"/>
                </a:ext>
              </a:extLst>
            </p:cNvPr>
            <p:cNvSpPr/>
            <p:nvPr/>
          </p:nvSpPr>
          <p:spPr>
            <a:xfrm>
              <a:off x="4386000" y="1512000"/>
              <a:ext cx="3420000" cy="36000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기존 방법의 한계</a:t>
              </a:r>
              <a:endParaRPr lang="en-US" sz="16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7EFCA1-B941-CB94-14FC-917FD1F54B05}"/>
                </a:ext>
              </a:extLst>
            </p:cNvPr>
            <p:cNvSpPr txBox="1"/>
            <p:nvPr/>
          </p:nvSpPr>
          <p:spPr>
            <a:xfrm>
              <a:off x="4386000" y="2088000"/>
              <a:ext cx="3420000" cy="720000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itchFamily="2" charset="2"/>
                <a:buChar char="ü"/>
              </a:pPr>
              <a:r>
                <a:rPr lang="en" altLang="ko-KR" sz="14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DFT </a:t>
              </a:r>
              <a:r>
                <a:rPr lang="ko-KR" altLang="en-US" sz="14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계산 및 실험을 통한 물성 평가는 많은 비용과 시간이 필요</a:t>
              </a:r>
              <a:r>
                <a:rPr lang="en-US" altLang="ko-KR" sz="14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</a:p>
          </p:txBody>
        </p:sp>
        <p:sp>
          <p:nvSpPr>
            <p:cNvPr id="12" name="Shape 11">
              <a:extLst>
                <a:ext uri="{FF2B5EF4-FFF2-40B4-BE49-F238E27FC236}">
                  <a16:creationId xmlns:a16="http://schemas.microsoft.com/office/drawing/2014/main" id="{92A3DE98-C581-CDDC-F110-38446D4A27DD}"/>
                </a:ext>
              </a:extLst>
            </p:cNvPr>
            <p:cNvSpPr/>
            <p:nvPr/>
          </p:nvSpPr>
          <p:spPr>
            <a:xfrm>
              <a:off x="8232000" y="1440000"/>
              <a:ext cx="3420000" cy="1512000"/>
            </a:xfrm>
            <a:prstGeom prst="rect">
              <a:avLst/>
            </a:prstGeom>
            <a:grpFill/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D6529799-0F3A-AADA-3931-947E37F079A4}"/>
                </a:ext>
              </a:extLst>
            </p:cNvPr>
            <p:cNvSpPr/>
            <p:nvPr/>
          </p:nvSpPr>
          <p:spPr>
            <a:xfrm>
              <a:off x="8232000" y="1512000"/>
              <a:ext cx="3420000" cy="36000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AI 기반 탐색의 등장</a:t>
              </a:r>
              <a:endParaRPr lang="en-US" sz="16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2FD1FEC-9104-24AB-0907-D2ADE1E9D521}"/>
                </a:ext>
              </a:extLst>
            </p:cNvPr>
            <p:cNvSpPr txBox="1"/>
            <p:nvPr/>
          </p:nvSpPr>
          <p:spPr>
            <a:xfrm>
              <a:off x="8232000" y="2088000"/>
              <a:ext cx="3420000" cy="720000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itchFamily="2" charset="2"/>
                <a:buChar char="ü"/>
              </a:pP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머신러닝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기반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물성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예측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기술</a:t>
              </a:r>
              <a:r>
                <a:rPr lang="ko-KR" altLang="en-US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발전으로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분자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구조만으로</a:t>
              </a:r>
              <a:r>
                <a:rPr lang="ko-KR" altLang="en-US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물성</a:t>
              </a:r>
              <a:r>
                <a:rPr lang="ko-KR" altLang="en-US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추정 가능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.</a:t>
              </a:r>
              <a:endParaRPr lang="en-US" altLang="ko-KR" sz="1400" dirty="0">
                <a:solidFill>
                  <a:schemeClr val="accent1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24926F10-1087-364B-545C-632116DB0A07}"/>
              </a:ext>
            </a:extLst>
          </p:cNvPr>
          <p:cNvGrpSpPr/>
          <p:nvPr/>
        </p:nvGrpSpPr>
        <p:grpSpPr>
          <a:xfrm>
            <a:off x="540000" y="3312000"/>
            <a:ext cx="11112000" cy="1188000"/>
            <a:chOff x="540000" y="3312000"/>
            <a:chExt cx="11112000" cy="1188000"/>
          </a:xfrm>
        </p:grpSpPr>
        <p:sp>
          <p:nvSpPr>
            <p:cNvPr id="21" name="Shape 11">
              <a:extLst>
                <a:ext uri="{FF2B5EF4-FFF2-40B4-BE49-F238E27FC236}">
                  <a16:creationId xmlns:a16="http://schemas.microsoft.com/office/drawing/2014/main" id="{269AFE08-1C72-9C68-4A68-DF6F7F659A35}"/>
                </a:ext>
              </a:extLst>
            </p:cNvPr>
            <p:cNvSpPr/>
            <p:nvPr/>
          </p:nvSpPr>
          <p:spPr>
            <a:xfrm>
              <a:off x="540000" y="3312000"/>
              <a:ext cx="11112000" cy="1188000"/>
            </a:xfrm>
            <a:prstGeom prst="rect">
              <a:avLst/>
            </a:prstGeom>
            <a:solidFill>
              <a:srgbClr val="F2F5FA"/>
            </a:solidFill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" name="Text 12">
              <a:extLst>
                <a:ext uri="{FF2B5EF4-FFF2-40B4-BE49-F238E27FC236}">
                  <a16:creationId xmlns:a16="http://schemas.microsoft.com/office/drawing/2014/main" id="{FBD0D458-5F1E-5162-50CE-B7C4A065D883}"/>
                </a:ext>
              </a:extLst>
            </p:cNvPr>
            <p:cNvSpPr/>
            <p:nvPr/>
          </p:nvSpPr>
          <p:spPr>
            <a:xfrm>
              <a:off x="540000" y="3384000"/>
              <a:ext cx="3420000" cy="324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Dipole Moment</a:t>
              </a:r>
              <a:r>
                <a:rPr lang="ko-KR" altLang="en-US" sz="16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의 역할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1780259-EFE8-7F7C-A535-DB57AEA4DE62}"/>
                </a:ext>
              </a:extLst>
            </p:cNvPr>
            <p:cNvSpPr txBox="1"/>
            <p:nvPr/>
          </p:nvSpPr>
          <p:spPr>
            <a:xfrm>
              <a:off x="540000" y="3960000"/>
              <a:ext cx="10800000" cy="3777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itchFamily="2" charset="2"/>
                <a:buChar char="ü"/>
              </a:pP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Dipole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Moment는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분자의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전기적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특성을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나타내는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대표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물성으로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,</a:t>
              </a:r>
              <a:r>
                <a:rPr lang="ko-KR" altLang="en-US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OLED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및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기능성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소재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설계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과정에서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자주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활용</a:t>
              </a:r>
              <a:r>
                <a:rPr lang="ko-KR" altLang="en-US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됨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.</a:t>
              </a:r>
              <a:endParaRPr lang="en-US" altLang="ko-KR" sz="1400" dirty="0">
                <a:solidFill>
                  <a:schemeClr val="accent1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1F50D9D9-C20E-D42C-6CC9-9D39EF834BDB}"/>
              </a:ext>
            </a:extLst>
          </p:cNvPr>
          <p:cNvGrpSpPr/>
          <p:nvPr/>
        </p:nvGrpSpPr>
        <p:grpSpPr>
          <a:xfrm>
            <a:off x="540000" y="4860000"/>
            <a:ext cx="11112000" cy="1188000"/>
            <a:chOff x="540000" y="4860000"/>
            <a:chExt cx="11112000" cy="1188000"/>
          </a:xfrm>
          <a:solidFill>
            <a:srgbClr val="F2F5FA"/>
          </a:solidFill>
        </p:grpSpPr>
        <p:sp>
          <p:nvSpPr>
            <p:cNvPr id="22" name="Shape 11">
              <a:extLst>
                <a:ext uri="{FF2B5EF4-FFF2-40B4-BE49-F238E27FC236}">
                  <a16:creationId xmlns:a16="http://schemas.microsoft.com/office/drawing/2014/main" id="{7FCA0BAE-C358-9094-F162-9EE72EA74275}"/>
                </a:ext>
              </a:extLst>
            </p:cNvPr>
            <p:cNvSpPr/>
            <p:nvPr/>
          </p:nvSpPr>
          <p:spPr>
            <a:xfrm>
              <a:off x="540000" y="4860000"/>
              <a:ext cx="11112000" cy="1188000"/>
            </a:xfrm>
            <a:prstGeom prst="rect">
              <a:avLst/>
            </a:prstGeom>
            <a:grpFill/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" name="Text 12">
              <a:extLst>
                <a:ext uri="{FF2B5EF4-FFF2-40B4-BE49-F238E27FC236}">
                  <a16:creationId xmlns:a16="http://schemas.microsoft.com/office/drawing/2014/main" id="{9E2CCE22-9B98-F2A7-100B-47E95B18A019}"/>
                </a:ext>
              </a:extLst>
            </p:cNvPr>
            <p:cNvSpPr/>
            <p:nvPr/>
          </p:nvSpPr>
          <p:spPr>
            <a:xfrm>
              <a:off x="540000" y="4931796"/>
              <a:ext cx="3420000" cy="32400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프로젝트 목표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A6C729-FA21-33FE-4BB9-ECA8806BD083}"/>
                </a:ext>
              </a:extLst>
            </p:cNvPr>
            <p:cNvSpPr txBox="1"/>
            <p:nvPr/>
          </p:nvSpPr>
          <p:spPr>
            <a:xfrm>
              <a:off x="540000" y="5508000"/>
              <a:ext cx="10800000" cy="37779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itchFamily="2" charset="2"/>
                <a:buChar char="ü"/>
              </a:pPr>
              <a:r>
                <a:rPr lang="ko-KR" altLang="en-US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강화학습을 이용하여 화학 공간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(Chemical Space) </a:t>
              </a:r>
              <a:r>
                <a:rPr lang="ko-KR" altLang="en-US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내에서 목표 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Dipole Moment </a:t>
              </a:r>
              <a:r>
                <a:rPr lang="ko-KR" altLang="en-US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영역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(2~3 Debye)</a:t>
              </a:r>
              <a:r>
                <a:rPr lang="ko-KR" altLang="en-US" sz="1400" dirty="0" err="1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에</a:t>
              </a:r>
              <a:r>
                <a:rPr lang="ko-KR" altLang="en-US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도달하는 탐색 정책을 학습</a:t>
              </a:r>
              <a:r>
                <a:rPr lang="en-US" altLang="ko-KR" sz="1400" dirty="0">
                  <a:solidFill>
                    <a:schemeClr val="accent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.</a:t>
              </a:r>
            </a:p>
          </p:txBody>
        </p:sp>
      </p:grp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AFEAAF0-B97D-74BA-EDB9-AB3EE7A0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pPr/>
              <a:t>2</a:t>
            </a:fld>
            <a:endParaRPr kumimoji="1" lang="ko-KR" altLang="en-US" sz="40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8733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65B1-5978-0C3B-9361-6A9A62BDF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A2571-2017-924D-1177-2C5D8AE0E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사용 데이터셋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" altLang="ko-KR" dirty="0"/>
              <a:t>QM9</a:t>
            </a:r>
            <a:endParaRPr kumimoji="1" lang="ko-KR" altLang="en-US" dirty="0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2438FCEF-DA75-C740-09C6-5A92627DB7BF}"/>
              </a:ext>
            </a:extLst>
          </p:cNvPr>
          <p:cNvGrpSpPr/>
          <p:nvPr/>
        </p:nvGrpSpPr>
        <p:grpSpPr>
          <a:xfrm>
            <a:off x="594360" y="5768373"/>
            <a:ext cx="11072520" cy="337015"/>
            <a:chOff x="594360" y="5580000"/>
            <a:chExt cx="11072520" cy="33701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C846E81-E943-A49F-87F2-DC33F01E91C9}"/>
                </a:ext>
              </a:extLst>
            </p:cNvPr>
            <p:cNvSpPr txBox="1"/>
            <p:nvPr/>
          </p:nvSpPr>
          <p:spPr>
            <a:xfrm>
              <a:off x="594360" y="5594619"/>
              <a:ext cx="16459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 err="1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선택</a:t>
              </a:r>
              <a:r>
                <a:rPr sz="1400" b="1" i="0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400" b="1" i="0" dirty="0" err="1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이유</a:t>
              </a:r>
              <a:r>
                <a:rPr sz="1400" b="1" i="0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: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A0A9771-21EE-5D85-05B9-1A792B6FCA3A}"/>
                </a:ext>
              </a:extLst>
            </p:cNvPr>
            <p:cNvSpPr txBox="1"/>
            <p:nvPr/>
          </p:nvSpPr>
          <p:spPr>
            <a:xfrm>
              <a:off x="2340000" y="5580000"/>
              <a:ext cx="9326880" cy="3370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①</a:t>
              </a:r>
              <a:r>
                <a:rPr lang="en-US" altLang="ko-KR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대규모</a:t>
              </a:r>
              <a:r>
                <a:rPr lang="en-US" altLang="ko-KR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공개</a:t>
              </a:r>
              <a:r>
                <a:rPr lang="en-US" altLang="ko-KR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데이터셋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en-US"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ko-KR" altLang="en-US"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② DFT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수준의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정확한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물성값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포함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  ③ SMILES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형식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제공</a:t>
              </a:r>
              <a:r>
                <a:rPr lang="ko-KR" altLang="en-US"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ko-KR" altLang="en-US"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en-US" altLang="ko-KR" sz="12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④ </a:t>
              </a:r>
              <a:r>
                <a:rPr lang="en-US" altLang="ko-KR" sz="1200" dirty="0" err="1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RDKit</a:t>
              </a:r>
              <a:r>
                <a:rPr lang="en-US" altLang="ko-KR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및</a:t>
              </a:r>
              <a:r>
                <a:rPr lang="en-US" altLang="ko-KR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머신러닝</a:t>
              </a:r>
              <a:r>
                <a:rPr lang="en-US" altLang="ko-KR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적용</a:t>
              </a:r>
              <a:r>
                <a:rPr lang="en-US" altLang="ko-KR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</a:t>
              </a:r>
              <a:r>
                <a:rPr lang="en-US" altLang="ko-KR" sz="1200" dirty="0" err="1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용이</a:t>
              </a:r>
              <a:endParaRPr lang="en-US" sz="12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40C2296-878F-86F1-23B9-8231B87DAAEE}"/>
              </a:ext>
            </a:extLst>
          </p:cNvPr>
          <p:cNvGrpSpPr/>
          <p:nvPr/>
        </p:nvGrpSpPr>
        <p:grpSpPr>
          <a:xfrm>
            <a:off x="540000" y="1260000"/>
            <a:ext cx="11109600" cy="1080000"/>
            <a:chOff x="540000" y="1260000"/>
            <a:chExt cx="11109600" cy="1080000"/>
          </a:xfrm>
        </p:grpSpPr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8F7F4556-88CE-11EC-9651-D48CBBBEB544}"/>
                </a:ext>
              </a:extLst>
            </p:cNvPr>
            <p:cNvSpPr/>
            <p:nvPr/>
          </p:nvSpPr>
          <p:spPr>
            <a:xfrm>
              <a:off x="540000" y="1260000"/>
              <a:ext cx="11109600" cy="1080000"/>
            </a:xfrm>
            <a:prstGeom prst="rect">
              <a:avLst/>
            </a:prstGeom>
            <a:solidFill>
              <a:srgbClr val="F2F5FA"/>
            </a:solidFill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9F63D58-37CF-23ED-7B1A-8961C9E67632}"/>
                </a:ext>
              </a:extLst>
            </p:cNvPr>
            <p:cNvSpPr txBox="1"/>
            <p:nvPr/>
          </p:nvSpPr>
          <p:spPr>
            <a:xfrm>
              <a:off x="594360" y="1725986"/>
              <a:ext cx="10972800" cy="614014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itchFamily="2" charset="2"/>
                <a:buChar char="ü"/>
              </a:pP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C, H, O, N, F</a:t>
              </a:r>
              <a:r>
                <a:rPr lang="ko-KR" altLang="en-US" sz="12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등 최대 </a:t>
              </a:r>
              <a:r>
                <a:rPr lang="en-US" altLang="ko-KR" sz="12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9</a:t>
              </a:r>
              <a:r>
                <a:rPr lang="ko-KR" altLang="en-US" sz="12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개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원소로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구성된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134,000여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개의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유기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분자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ko-KR" altLang="en-US"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구조와 </a:t>
              </a:r>
              <a:r>
                <a:rPr lang="en"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DFT </a:t>
              </a:r>
              <a:r>
                <a:rPr lang="ko-KR" altLang="en-US"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계산 물성을 모아둔 대표적인 분자 벤치마크 데이터셋</a:t>
              </a:r>
              <a:endParaRPr lang="en-US" sz="12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pPr algn="l">
                <a:lnSpc>
                  <a:spcPct val="150000"/>
                </a:lnSpc>
              </a:pP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(Ramakrishnan et al., Scientific Data, 2014)</a:t>
              </a:r>
            </a:p>
          </p:txBody>
        </p:sp>
        <p:sp>
          <p:nvSpPr>
            <p:cNvPr id="34" name="Text 3">
              <a:extLst>
                <a:ext uri="{FF2B5EF4-FFF2-40B4-BE49-F238E27FC236}">
                  <a16:creationId xmlns:a16="http://schemas.microsoft.com/office/drawing/2014/main" id="{314E9E93-255C-D0C5-8588-D8023513CC12}"/>
                </a:ext>
              </a:extLst>
            </p:cNvPr>
            <p:cNvSpPr/>
            <p:nvPr/>
          </p:nvSpPr>
          <p:spPr>
            <a:xfrm>
              <a:off x="540000" y="1260000"/>
              <a:ext cx="3420000" cy="360000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</p:spPr>
          <p:txBody>
            <a:bodyPr wrap="square"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QM9 </a:t>
              </a:r>
              <a:r>
                <a:rPr lang="ko-KR" altLang="en-US" sz="14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란</a:t>
              </a:r>
              <a:r>
                <a:rPr lang="en-US" altLang="ko-KR" sz="14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?</a:t>
              </a:r>
              <a:endParaRPr lang="en-US" sz="14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D4549D6-715A-4B94-7175-E38F73973A99}"/>
              </a:ext>
            </a:extLst>
          </p:cNvPr>
          <p:cNvGrpSpPr/>
          <p:nvPr/>
        </p:nvGrpSpPr>
        <p:grpSpPr>
          <a:xfrm>
            <a:off x="540000" y="2532224"/>
            <a:ext cx="11109600" cy="432000"/>
            <a:chOff x="540000" y="2403955"/>
            <a:chExt cx="11109600" cy="432000"/>
          </a:xfrm>
          <a:solidFill>
            <a:srgbClr val="F2F5FA"/>
          </a:solidFill>
        </p:grpSpPr>
        <p:sp>
          <p:nvSpPr>
            <p:cNvPr id="36" name="Shape 2">
              <a:extLst>
                <a:ext uri="{FF2B5EF4-FFF2-40B4-BE49-F238E27FC236}">
                  <a16:creationId xmlns:a16="http://schemas.microsoft.com/office/drawing/2014/main" id="{58817368-A5AA-4D20-4AAE-50A12C1B75FB}"/>
                </a:ext>
              </a:extLst>
            </p:cNvPr>
            <p:cNvSpPr/>
            <p:nvPr/>
          </p:nvSpPr>
          <p:spPr>
            <a:xfrm>
              <a:off x="540000" y="2403955"/>
              <a:ext cx="11109600" cy="432000"/>
            </a:xfrm>
            <a:prstGeom prst="rect">
              <a:avLst/>
            </a:prstGeom>
            <a:grpFill/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EDD0DA-E050-B149-4C6C-5A336F6E099D}"/>
                </a:ext>
              </a:extLst>
            </p:cNvPr>
            <p:cNvSpPr txBox="1"/>
            <p:nvPr/>
          </p:nvSpPr>
          <p:spPr>
            <a:xfrm>
              <a:off x="540000" y="2475955"/>
              <a:ext cx="1440000" cy="288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sz="1200" b="1" i="0" dirty="0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mu (</a:t>
              </a:r>
              <a:r>
                <a:rPr sz="1200" b="1" i="0" dirty="0" err="1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μ</a:t>
              </a:r>
              <a:r>
                <a:rPr sz="1200" b="1" i="0" dirty="0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EA0704-D3B5-0C49-06E6-7123E99CF331}"/>
                </a:ext>
              </a:extLst>
            </p:cNvPr>
            <p:cNvSpPr txBox="1"/>
            <p:nvPr/>
          </p:nvSpPr>
          <p:spPr>
            <a:xfrm>
              <a:off x="2520000" y="2475955"/>
              <a:ext cx="3600000" cy="288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200" b="1" i="0" dirty="0" err="1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쌍극자</a:t>
              </a:r>
              <a:r>
                <a:rPr sz="1200" b="1" i="0" dirty="0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1" i="0" dirty="0" err="1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모멘트</a:t>
              </a:r>
              <a:r>
                <a:rPr sz="1200" b="1" i="0" dirty="0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(Debye)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137973-193F-9537-1AA7-53AB62D5F870}"/>
                </a:ext>
              </a:extLst>
            </p:cNvPr>
            <p:cNvSpPr txBox="1"/>
            <p:nvPr/>
          </p:nvSpPr>
          <p:spPr>
            <a:xfrm>
              <a:off x="7329600" y="2475955"/>
              <a:ext cx="3600000" cy="288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200" b="1" dirty="0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★ </a:t>
              </a:r>
              <a:r>
                <a:rPr sz="1200" b="1" dirty="0" err="1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프로젝트</a:t>
              </a:r>
              <a:r>
                <a:rPr sz="1200" b="1" dirty="0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1" dirty="0" err="1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목표</a:t>
              </a:r>
              <a:r>
                <a:rPr sz="1200" b="1" dirty="0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1" dirty="0" err="1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물성</a:t>
              </a:r>
              <a:r>
                <a:rPr lang="ko-KR" altLang="en-US" sz="1200" b="1" dirty="0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en-US" altLang="ko-KR" sz="1200" b="1" dirty="0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(</a:t>
              </a:r>
              <a:r>
                <a:rPr lang="ko-KR" altLang="en-US" sz="1200" b="1" dirty="0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목표 물성</a:t>
              </a:r>
              <a:r>
                <a:rPr lang="en-US" altLang="ko-KR" sz="1200" b="1" dirty="0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:</a:t>
              </a:r>
              <a:r>
                <a:rPr lang="ko-KR" altLang="en-US" sz="1200" b="1" dirty="0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en-US" altLang="ko-KR" sz="1200" b="1" dirty="0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2.0~3.0</a:t>
              </a:r>
              <a:r>
                <a:rPr lang="ko-KR" altLang="en-US" sz="1200" b="1" dirty="0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en-US" altLang="ko-KR" sz="1200" b="1" dirty="0">
                  <a:solidFill>
                    <a:schemeClr val="accent6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D)</a:t>
              </a:r>
              <a:endParaRPr sz="1200" b="1" dirty="0">
                <a:solidFill>
                  <a:schemeClr val="accent6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84497FC-A2D7-6F3C-5412-C162AF4089E2}"/>
              </a:ext>
            </a:extLst>
          </p:cNvPr>
          <p:cNvGrpSpPr/>
          <p:nvPr/>
        </p:nvGrpSpPr>
        <p:grpSpPr>
          <a:xfrm>
            <a:off x="540000" y="3050624"/>
            <a:ext cx="11109600" cy="432000"/>
            <a:chOff x="540000" y="2943955"/>
            <a:chExt cx="11109600" cy="432000"/>
          </a:xfrm>
          <a:solidFill>
            <a:srgbClr val="F2F5FA"/>
          </a:solidFill>
        </p:grpSpPr>
        <p:sp>
          <p:nvSpPr>
            <p:cNvPr id="37" name="Shape 2">
              <a:extLst>
                <a:ext uri="{FF2B5EF4-FFF2-40B4-BE49-F238E27FC236}">
                  <a16:creationId xmlns:a16="http://schemas.microsoft.com/office/drawing/2014/main" id="{0BB5C677-5918-05B2-D11F-8E02DB84069D}"/>
                </a:ext>
              </a:extLst>
            </p:cNvPr>
            <p:cNvSpPr/>
            <p:nvPr/>
          </p:nvSpPr>
          <p:spPr>
            <a:xfrm>
              <a:off x="540000" y="2943955"/>
              <a:ext cx="11109600" cy="432000"/>
            </a:xfrm>
            <a:prstGeom prst="rect">
              <a:avLst/>
            </a:prstGeom>
            <a:grpFill/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5B0364A-195E-98C0-26D1-03E68AE531E6}"/>
                </a:ext>
              </a:extLst>
            </p:cNvPr>
            <p:cNvSpPr txBox="1"/>
            <p:nvPr/>
          </p:nvSpPr>
          <p:spPr>
            <a:xfrm>
              <a:off x="540000" y="3015955"/>
              <a:ext cx="1440000" cy="288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sz="1200" b="1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alpha (α)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183371E-0ADC-B909-F336-22CD1F919B44}"/>
                </a:ext>
              </a:extLst>
            </p:cNvPr>
            <p:cNvSpPr txBox="1"/>
            <p:nvPr/>
          </p:nvSpPr>
          <p:spPr>
            <a:xfrm>
              <a:off x="2520000" y="3015955"/>
              <a:ext cx="3600000" cy="288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등방성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분극률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(a₀³)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9B1242-EFC4-9ABC-1C87-2AF0CD655687}"/>
                </a:ext>
              </a:extLst>
            </p:cNvPr>
            <p:cNvSpPr txBox="1"/>
            <p:nvPr/>
          </p:nvSpPr>
          <p:spPr>
            <a:xfrm>
              <a:off x="7329600" y="3015955"/>
              <a:ext cx="3600000" cy="288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분자의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전기장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반응성</a:t>
              </a:r>
              <a:endParaRPr sz="12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5A51BE4-0D56-93C7-75C5-198E50A46CAC}"/>
              </a:ext>
            </a:extLst>
          </p:cNvPr>
          <p:cNvGrpSpPr/>
          <p:nvPr/>
        </p:nvGrpSpPr>
        <p:grpSpPr>
          <a:xfrm>
            <a:off x="540000" y="3569024"/>
            <a:ext cx="11109600" cy="432000"/>
            <a:chOff x="540000" y="3483955"/>
            <a:chExt cx="11109600" cy="432000"/>
          </a:xfrm>
          <a:solidFill>
            <a:srgbClr val="F2F5FA"/>
          </a:solidFill>
        </p:grpSpPr>
        <p:sp>
          <p:nvSpPr>
            <p:cNvPr id="38" name="Shape 2">
              <a:extLst>
                <a:ext uri="{FF2B5EF4-FFF2-40B4-BE49-F238E27FC236}">
                  <a16:creationId xmlns:a16="http://schemas.microsoft.com/office/drawing/2014/main" id="{DD9F64CC-5FDE-AC74-7DA4-5FB96D45B1D2}"/>
                </a:ext>
              </a:extLst>
            </p:cNvPr>
            <p:cNvSpPr/>
            <p:nvPr/>
          </p:nvSpPr>
          <p:spPr>
            <a:xfrm>
              <a:off x="540000" y="3483955"/>
              <a:ext cx="11109600" cy="432000"/>
            </a:xfrm>
            <a:prstGeom prst="rect">
              <a:avLst/>
            </a:prstGeom>
            <a:grpFill/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DC2AB5-86CE-4C7A-F662-EE38B4D3F040}"/>
                </a:ext>
              </a:extLst>
            </p:cNvPr>
            <p:cNvSpPr txBox="1"/>
            <p:nvPr/>
          </p:nvSpPr>
          <p:spPr>
            <a:xfrm>
              <a:off x="540000" y="3555955"/>
              <a:ext cx="1440000" cy="288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sz="1200" b="1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HOMO</a:t>
              </a:r>
              <a:r>
                <a:rPr lang="en-US" altLang="ko-KR" sz="1200" b="1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/</a:t>
              </a:r>
              <a:r>
                <a:rPr lang="en-US" altLang="ko-KR" sz="1200" b="1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LUMO</a:t>
              </a:r>
              <a:endParaRPr sz="1200" b="1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DE7D419-6EC2-760E-4039-9E6F32A71799}"/>
                </a:ext>
              </a:extLst>
            </p:cNvPr>
            <p:cNvSpPr txBox="1"/>
            <p:nvPr/>
          </p:nvSpPr>
          <p:spPr>
            <a:xfrm>
              <a:off x="2520000" y="3555955"/>
              <a:ext cx="3600000" cy="288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최고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점유</a:t>
              </a:r>
              <a:r>
                <a:rPr lang="en-US" altLang="ko-KR"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/</a:t>
              </a:r>
              <a:r>
                <a:rPr lang="ko-KR" altLang="en-US"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비점유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분자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궤도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에너지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(eV)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D2C1639-5C90-D190-0BCD-0A84BCF580F0}"/>
                </a:ext>
              </a:extLst>
            </p:cNvPr>
            <p:cNvSpPr txBox="1"/>
            <p:nvPr/>
          </p:nvSpPr>
          <p:spPr>
            <a:xfrm>
              <a:off x="7329600" y="3561456"/>
              <a:ext cx="3600000" cy="27699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전자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공여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특성</a:t>
              </a:r>
              <a:r>
                <a:rPr lang="en-US"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/</a:t>
              </a:r>
              <a:r>
                <a:rPr lang="ko-KR" altLang="en-US" sz="12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전자 수용 특성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5A9E451-76DE-C7A0-BBC8-776FD19AA8C9}"/>
              </a:ext>
            </a:extLst>
          </p:cNvPr>
          <p:cNvGrpSpPr/>
          <p:nvPr/>
        </p:nvGrpSpPr>
        <p:grpSpPr>
          <a:xfrm>
            <a:off x="540000" y="4087424"/>
            <a:ext cx="11109600" cy="432000"/>
            <a:chOff x="540000" y="4023955"/>
            <a:chExt cx="11109600" cy="432000"/>
          </a:xfrm>
          <a:solidFill>
            <a:srgbClr val="F2F5FA"/>
          </a:solidFill>
        </p:grpSpPr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9134F357-6989-7DB2-4B1C-A1A6FCDFB6B5}"/>
                </a:ext>
              </a:extLst>
            </p:cNvPr>
            <p:cNvSpPr/>
            <p:nvPr/>
          </p:nvSpPr>
          <p:spPr>
            <a:xfrm>
              <a:off x="540000" y="4023955"/>
              <a:ext cx="11109600" cy="432000"/>
            </a:xfrm>
            <a:prstGeom prst="rect">
              <a:avLst/>
            </a:prstGeom>
            <a:grpFill/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5DCAC4B-B2AF-3FE9-90B8-E6FCD292E1B4}"/>
                </a:ext>
              </a:extLst>
            </p:cNvPr>
            <p:cNvSpPr txBox="1"/>
            <p:nvPr/>
          </p:nvSpPr>
          <p:spPr>
            <a:xfrm>
              <a:off x="540000" y="4095955"/>
              <a:ext cx="1440000" cy="288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b="1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E</a:t>
              </a:r>
              <a:r>
                <a:rPr sz="1200" b="1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gap</a:t>
              </a:r>
              <a:endParaRPr sz="1200" b="1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DD10813-0DE0-98AE-42E6-CCFD90FC1DD6}"/>
                </a:ext>
              </a:extLst>
            </p:cNvPr>
            <p:cNvSpPr txBox="1"/>
            <p:nvPr/>
          </p:nvSpPr>
          <p:spPr>
            <a:xfrm>
              <a:off x="2520000" y="4095955"/>
              <a:ext cx="3600000" cy="288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HOMO-LUMO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갭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(eV)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5DF24F-A4A6-9954-5DBD-B60D7F1C969A}"/>
                </a:ext>
              </a:extLst>
            </p:cNvPr>
            <p:cNvSpPr txBox="1"/>
            <p:nvPr/>
          </p:nvSpPr>
          <p:spPr>
            <a:xfrm>
              <a:off x="7329600" y="4095955"/>
              <a:ext cx="3600000" cy="288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200" b="0" i="0">
                  <a:latin typeface="NanumGothic" panose="020D0604000000000000" pitchFamily="34" charset="-127"/>
                  <a:ea typeface="NanumGothic" panose="020D0604000000000000" pitchFamily="34" charset="-127"/>
                </a:rPr>
                <a:t>광학적 특성 지표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637DDE1-9D72-DEF7-6321-E25B62B1645E}"/>
              </a:ext>
            </a:extLst>
          </p:cNvPr>
          <p:cNvGrpSpPr/>
          <p:nvPr/>
        </p:nvGrpSpPr>
        <p:grpSpPr>
          <a:xfrm>
            <a:off x="540000" y="5124224"/>
            <a:ext cx="11109600" cy="432000"/>
            <a:chOff x="540000" y="4999892"/>
            <a:chExt cx="11109600" cy="432000"/>
          </a:xfrm>
          <a:solidFill>
            <a:srgbClr val="F2F5FA"/>
          </a:solidFill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562584C7-5905-8D2E-3CC5-742FA1A66EA9}"/>
                </a:ext>
              </a:extLst>
            </p:cNvPr>
            <p:cNvSpPr/>
            <p:nvPr/>
          </p:nvSpPr>
          <p:spPr>
            <a:xfrm>
              <a:off x="540000" y="4999892"/>
              <a:ext cx="11109600" cy="432000"/>
            </a:xfrm>
            <a:prstGeom prst="rect">
              <a:avLst/>
            </a:prstGeom>
            <a:grpFill/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DF9D8D5-9F82-6CA9-A47A-A44ECA1CD64D}"/>
                </a:ext>
              </a:extLst>
            </p:cNvPr>
            <p:cNvSpPr txBox="1"/>
            <p:nvPr/>
          </p:nvSpPr>
          <p:spPr>
            <a:xfrm>
              <a:off x="540000" y="5071892"/>
              <a:ext cx="1440000" cy="288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sz="1200" b="1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Cv</a:t>
              </a:r>
              <a:endParaRPr sz="1200" b="1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3222392-9D01-29F9-3E6B-B0EF123FF068}"/>
                </a:ext>
              </a:extLst>
            </p:cNvPr>
            <p:cNvSpPr txBox="1"/>
            <p:nvPr/>
          </p:nvSpPr>
          <p:spPr>
            <a:xfrm>
              <a:off x="2520000" y="5071892"/>
              <a:ext cx="3600000" cy="288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열용량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(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cal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/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mol·K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3C9F6E5-D01E-EA9A-ABD3-5A4E7649132C}"/>
                </a:ext>
              </a:extLst>
            </p:cNvPr>
            <p:cNvSpPr txBox="1"/>
            <p:nvPr/>
          </p:nvSpPr>
          <p:spPr>
            <a:xfrm>
              <a:off x="7329600" y="5071892"/>
              <a:ext cx="3600000" cy="28800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열적</a:t>
              </a:r>
              <a:r>
                <a:rPr sz="1200" b="0" i="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sz="1200" b="0" i="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안정성</a:t>
              </a:r>
              <a:endParaRPr sz="12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4F2AD5AC-892E-FC3F-AC09-D8A1B1A88089}"/>
              </a:ext>
            </a:extLst>
          </p:cNvPr>
          <p:cNvGrpSpPr/>
          <p:nvPr/>
        </p:nvGrpSpPr>
        <p:grpSpPr>
          <a:xfrm>
            <a:off x="540000" y="4605824"/>
            <a:ext cx="11109600" cy="432000"/>
            <a:chOff x="540000" y="4511923"/>
            <a:chExt cx="11109600" cy="432000"/>
          </a:xfrm>
          <a:solidFill>
            <a:srgbClr val="F2F5FA"/>
          </a:solidFill>
        </p:grpSpPr>
        <p:sp>
          <p:nvSpPr>
            <p:cNvPr id="42" name="Shape 2">
              <a:extLst>
                <a:ext uri="{FF2B5EF4-FFF2-40B4-BE49-F238E27FC236}">
                  <a16:creationId xmlns:a16="http://schemas.microsoft.com/office/drawing/2014/main" id="{E28EF909-D47E-7E75-79C9-C75CAAAE3711}"/>
                </a:ext>
              </a:extLst>
            </p:cNvPr>
            <p:cNvSpPr/>
            <p:nvPr/>
          </p:nvSpPr>
          <p:spPr>
            <a:xfrm>
              <a:off x="540000" y="4511923"/>
              <a:ext cx="11109600" cy="432000"/>
            </a:xfrm>
            <a:prstGeom prst="rect">
              <a:avLst/>
            </a:prstGeom>
            <a:grpFill/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AF5F653-4DE7-9410-E63D-D0D77A142F35}"/>
                </a:ext>
              </a:extLst>
            </p:cNvPr>
            <p:cNvSpPr txBox="1"/>
            <p:nvPr/>
          </p:nvSpPr>
          <p:spPr>
            <a:xfrm>
              <a:off x="540000" y="4589424"/>
              <a:ext cx="1440000" cy="27699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" altLang="ko-KR" sz="1200" b="1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U</a:t>
              </a:r>
              <a:endParaRPr sz="1200" b="1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A30057A-07A2-FC5C-F17D-B9F26239B09A}"/>
                </a:ext>
              </a:extLst>
            </p:cNvPr>
            <p:cNvSpPr txBox="1"/>
            <p:nvPr/>
          </p:nvSpPr>
          <p:spPr>
            <a:xfrm>
              <a:off x="2520000" y="4589424"/>
              <a:ext cx="3600000" cy="27699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내부 에너지 </a:t>
              </a:r>
              <a:r>
                <a:rPr lang="en-US" altLang="ko-KR" sz="12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(</a:t>
              </a:r>
              <a:r>
                <a:rPr lang="en" altLang="ko-KR" sz="12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Hartree)</a:t>
              </a:r>
              <a:endParaRPr sz="12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8F0E54F-8D4C-2BDD-42C3-261C99A38607}"/>
                </a:ext>
              </a:extLst>
            </p:cNvPr>
            <p:cNvSpPr txBox="1"/>
            <p:nvPr/>
          </p:nvSpPr>
          <p:spPr>
            <a:xfrm>
              <a:off x="7329600" y="4589424"/>
              <a:ext cx="3600000" cy="27699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분자 안정성 지표</a:t>
              </a:r>
              <a:endParaRPr sz="1200" b="0" i="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78EE088-0357-3518-8268-6DC28D56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pPr/>
              <a:t>3</a:t>
            </a:fld>
            <a:endParaRPr kumimoji="1" lang="ko-KR" altLang="en-US" sz="40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3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73F60-694E-1F0F-308D-EF2B1BAB5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cs typeface="Malgun Gothic" pitchFamily="34" charset="-120"/>
              </a:rPr>
              <a:t>실험</a:t>
            </a:r>
            <a:r>
              <a:rPr lang="en-US" altLang="ko-KR" dirty="0">
                <a:cs typeface="Malgun Gothic" pitchFamily="34" charset="-120"/>
              </a:rPr>
              <a:t> Setup</a:t>
            </a:r>
            <a:endParaRPr kumimoji="1" lang="ko-KR" altLang="en-US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FFD8DA74-BCB2-C758-FA51-E49C2B61582C}"/>
              </a:ext>
            </a:extLst>
          </p:cNvPr>
          <p:cNvSpPr/>
          <p:nvPr/>
        </p:nvSpPr>
        <p:spPr>
          <a:xfrm>
            <a:off x="540000" y="1260288"/>
            <a:ext cx="5394960" cy="5120640"/>
          </a:xfrm>
          <a:prstGeom prst="rect">
            <a:avLst/>
          </a:prstGeom>
          <a:solidFill>
            <a:srgbClr val="F2F5FA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3EB3C54B-3B4A-D27E-5A3F-3A2006A3C596}"/>
              </a:ext>
            </a:extLst>
          </p:cNvPr>
          <p:cNvSpPr/>
          <p:nvPr/>
        </p:nvSpPr>
        <p:spPr>
          <a:xfrm>
            <a:off x="720000" y="1368288"/>
            <a:ext cx="185760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환경</a:t>
            </a:r>
            <a:endParaRPr lang="en-US" sz="1500" dirty="0">
              <a:solidFill>
                <a:srgbClr val="1A56DB"/>
              </a:solidFill>
            </a:endParaRPr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28D65707-8F33-A35F-4960-0FB9849E8880}"/>
              </a:ext>
            </a:extLst>
          </p:cNvPr>
          <p:cNvSpPr/>
          <p:nvPr/>
        </p:nvSpPr>
        <p:spPr>
          <a:xfrm>
            <a:off x="6252000" y="1283886"/>
            <a:ext cx="5400000" cy="2340000"/>
          </a:xfrm>
          <a:prstGeom prst="rect">
            <a:avLst/>
          </a:prstGeom>
          <a:solidFill>
            <a:srgbClr val="F2F5FA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062993BC-5DA7-7888-DEA7-AE625B2E067C}"/>
              </a:ext>
            </a:extLst>
          </p:cNvPr>
          <p:cNvSpPr/>
          <p:nvPr/>
        </p:nvSpPr>
        <p:spPr>
          <a:xfrm>
            <a:off x="6433200" y="1440985"/>
            <a:ext cx="234000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Evaluation Metric</a:t>
            </a:r>
            <a:endParaRPr lang="en-US" sz="1500" dirty="0">
              <a:solidFill>
                <a:srgbClr val="1A56DB"/>
              </a:solidFill>
            </a:endParaRPr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F3BC8D12-660F-9EBA-4043-47A38A35B2B4}"/>
              </a:ext>
            </a:extLst>
          </p:cNvPr>
          <p:cNvSpPr/>
          <p:nvPr/>
        </p:nvSpPr>
        <p:spPr>
          <a:xfrm>
            <a:off x="6433200" y="1872006"/>
            <a:ext cx="4516885" cy="16459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Target Hit Rate</a:t>
            </a: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0" indent="0">
              <a:buNone/>
            </a:pP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0" indent="0">
              <a:buNone/>
            </a:pP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50 step 이내에 목표 Dipole Moment 범위</a:t>
            </a: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0" indent="0">
              <a:buNone/>
            </a:pP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(2.0 ~ 3.0 Debye)에 도달한 횟수</a:t>
            </a: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0" indent="0">
              <a:buNone/>
            </a:pP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0" indent="0">
              <a:buNone/>
            </a:pP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→ 높을수록 목표 물성 탐색 능력이 우수</a:t>
            </a: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CD728029-C851-7A14-A5A7-C46672CEE02F}"/>
              </a:ext>
            </a:extLst>
          </p:cNvPr>
          <p:cNvSpPr/>
          <p:nvPr/>
        </p:nvSpPr>
        <p:spPr>
          <a:xfrm>
            <a:off x="6252000" y="3954886"/>
            <a:ext cx="5400000" cy="2340001"/>
          </a:xfrm>
          <a:prstGeom prst="rect">
            <a:avLst/>
          </a:prstGeom>
          <a:solidFill>
            <a:srgbClr val="F2F5FA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sz="120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E2AFDF91-7C78-F946-9120-016607E53210}"/>
              </a:ext>
            </a:extLst>
          </p:cNvPr>
          <p:cNvSpPr/>
          <p:nvPr/>
        </p:nvSpPr>
        <p:spPr>
          <a:xfrm>
            <a:off x="6433200" y="4046118"/>
            <a:ext cx="234000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설정</a:t>
            </a:r>
            <a:endParaRPr lang="en-US" sz="1500" dirty="0">
              <a:solidFill>
                <a:srgbClr val="1A56DB"/>
              </a:solidFill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AF94E8A4-4E4F-1B94-F483-6F823F029687}"/>
              </a:ext>
            </a:extLst>
          </p:cNvPr>
          <p:cNvGrpSpPr/>
          <p:nvPr/>
        </p:nvGrpSpPr>
        <p:grpSpPr>
          <a:xfrm>
            <a:off x="6342000" y="4688349"/>
            <a:ext cx="5220000" cy="438912"/>
            <a:chOff x="6342000" y="4580061"/>
            <a:chExt cx="5220000" cy="438912"/>
          </a:xfrm>
        </p:grpSpPr>
        <p:sp>
          <p:nvSpPr>
            <p:cNvPr id="34" name="Shape 33">
              <a:extLst>
                <a:ext uri="{FF2B5EF4-FFF2-40B4-BE49-F238E27FC236}">
                  <a16:creationId xmlns:a16="http://schemas.microsoft.com/office/drawing/2014/main" id="{2B082910-A078-4A49-D885-B471C2279BC7}"/>
                </a:ext>
              </a:extLst>
            </p:cNvPr>
            <p:cNvSpPr/>
            <p:nvPr/>
          </p:nvSpPr>
          <p:spPr>
            <a:xfrm>
              <a:off x="6342000" y="4580061"/>
              <a:ext cx="5220000" cy="4389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F2F5F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" name="Text 34">
              <a:extLst>
                <a:ext uri="{FF2B5EF4-FFF2-40B4-BE49-F238E27FC236}">
                  <a16:creationId xmlns:a16="http://schemas.microsoft.com/office/drawing/2014/main" id="{5C39EE4F-643D-D54E-8922-A604ABF0520D}"/>
                </a:ext>
              </a:extLst>
            </p:cNvPr>
            <p:cNvSpPr/>
            <p:nvPr/>
          </p:nvSpPr>
          <p:spPr>
            <a:xfrm>
              <a:off x="6342000" y="4634925"/>
              <a:ext cx="1800000" cy="329184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평가 에피소드</a:t>
              </a:r>
              <a:endPara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" name="Text 35">
              <a:extLst>
                <a:ext uri="{FF2B5EF4-FFF2-40B4-BE49-F238E27FC236}">
                  <a16:creationId xmlns:a16="http://schemas.microsoft.com/office/drawing/2014/main" id="{6B5EF937-1CFD-A979-E900-79BBB9F78C17}"/>
                </a:ext>
              </a:extLst>
            </p:cNvPr>
            <p:cNvSpPr/>
            <p:nvPr/>
          </p:nvSpPr>
          <p:spPr>
            <a:xfrm>
              <a:off x="8433211" y="4634925"/>
              <a:ext cx="3060000" cy="329184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100 episodes (알고리즘별 동일)</a:t>
              </a:r>
              <a:endParaRPr lang="en-US" sz="12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78FE3F6-614A-AB10-7627-29F3E83B5326}"/>
              </a:ext>
            </a:extLst>
          </p:cNvPr>
          <p:cNvGrpSpPr/>
          <p:nvPr/>
        </p:nvGrpSpPr>
        <p:grpSpPr>
          <a:xfrm>
            <a:off x="6342000" y="5235557"/>
            <a:ext cx="5220000" cy="438912"/>
            <a:chOff x="6342000" y="5154972"/>
            <a:chExt cx="5220000" cy="438912"/>
          </a:xfrm>
        </p:grpSpPr>
        <p:sp>
          <p:nvSpPr>
            <p:cNvPr id="40" name="Shape 39">
              <a:extLst>
                <a:ext uri="{FF2B5EF4-FFF2-40B4-BE49-F238E27FC236}">
                  <a16:creationId xmlns:a16="http://schemas.microsoft.com/office/drawing/2014/main" id="{2223A02C-32AE-59CD-7713-FA49B50AE5B4}"/>
                </a:ext>
              </a:extLst>
            </p:cNvPr>
            <p:cNvSpPr/>
            <p:nvPr/>
          </p:nvSpPr>
          <p:spPr>
            <a:xfrm>
              <a:off x="6342000" y="5154972"/>
              <a:ext cx="5220000" cy="4389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F2F5F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Text 40">
              <a:extLst>
                <a:ext uri="{FF2B5EF4-FFF2-40B4-BE49-F238E27FC236}">
                  <a16:creationId xmlns:a16="http://schemas.microsoft.com/office/drawing/2014/main" id="{7FB6A057-FBBC-C9B5-03ED-9732966C547D}"/>
                </a:ext>
              </a:extLst>
            </p:cNvPr>
            <p:cNvSpPr/>
            <p:nvPr/>
          </p:nvSpPr>
          <p:spPr>
            <a:xfrm>
              <a:off x="6342000" y="5209836"/>
              <a:ext cx="1800000" cy="329184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평가 지표 출력</a:t>
              </a:r>
              <a:endPara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2" name="Text 41">
              <a:extLst>
                <a:ext uri="{FF2B5EF4-FFF2-40B4-BE49-F238E27FC236}">
                  <a16:creationId xmlns:a16="http://schemas.microsoft.com/office/drawing/2014/main" id="{051D6508-3724-63EC-4733-4973EDCE16C5}"/>
                </a:ext>
              </a:extLst>
            </p:cNvPr>
            <p:cNvSpPr/>
            <p:nvPr/>
          </p:nvSpPr>
          <p:spPr>
            <a:xfrm>
              <a:off x="8433211" y="5209836"/>
              <a:ext cx="3060000" cy="329184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Mean ± Std (100 episodes)</a:t>
              </a:r>
              <a:endParaRPr lang="en-US" sz="12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FEFAA93C-AF76-E38A-EB09-E9947890BE85}"/>
              </a:ext>
            </a:extLst>
          </p:cNvPr>
          <p:cNvGrpSpPr/>
          <p:nvPr/>
        </p:nvGrpSpPr>
        <p:grpSpPr>
          <a:xfrm>
            <a:off x="6342000" y="5782766"/>
            <a:ext cx="5220000" cy="438912"/>
            <a:chOff x="6342000" y="5674478"/>
            <a:chExt cx="5220000" cy="438912"/>
          </a:xfrm>
        </p:grpSpPr>
        <p:sp>
          <p:nvSpPr>
            <p:cNvPr id="43" name="Shape 42">
              <a:extLst>
                <a:ext uri="{FF2B5EF4-FFF2-40B4-BE49-F238E27FC236}">
                  <a16:creationId xmlns:a16="http://schemas.microsoft.com/office/drawing/2014/main" id="{9F9A845F-2D1F-78F0-34D5-ED682E94B32A}"/>
                </a:ext>
              </a:extLst>
            </p:cNvPr>
            <p:cNvSpPr/>
            <p:nvPr/>
          </p:nvSpPr>
          <p:spPr>
            <a:xfrm>
              <a:off x="6342000" y="5674478"/>
              <a:ext cx="5220000" cy="4389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F2F5F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4" name="Text 43">
              <a:extLst>
                <a:ext uri="{FF2B5EF4-FFF2-40B4-BE49-F238E27FC236}">
                  <a16:creationId xmlns:a16="http://schemas.microsoft.com/office/drawing/2014/main" id="{5CE362F7-0561-58CE-CE43-A1C0A9D4ACC3}"/>
                </a:ext>
              </a:extLst>
            </p:cNvPr>
            <p:cNvSpPr/>
            <p:nvPr/>
          </p:nvSpPr>
          <p:spPr>
            <a:xfrm>
              <a:off x="6342000" y="5729342"/>
              <a:ext cx="1800000" cy="329184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비교 알고리즘</a:t>
              </a:r>
              <a:endPara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5" name="Text 44">
              <a:extLst>
                <a:ext uri="{FF2B5EF4-FFF2-40B4-BE49-F238E27FC236}">
                  <a16:creationId xmlns:a16="http://schemas.microsoft.com/office/drawing/2014/main" id="{BDEC0B3E-C593-6E3F-FC01-3EE323CA9E0F}"/>
                </a:ext>
              </a:extLst>
            </p:cNvPr>
            <p:cNvSpPr/>
            <p:nvPr/>
          </p:nvSpPr>
          <p:spPr>
            <a:xfrm>
              <a:off x="8433211" y="5729342"/>
              <a:ext cx="3060000" cy="329184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Random / DQN / Greedy (Upper Bound)</a:t>
              </a:r>
              <a:endParaRPr lang="en-US" sz="12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3986515C-E97F-D06C-A562-4D41CA5EA755}"/>
              </a:ext>
            </a:extLst>
          </p:cNvPr>
          <p:cNvGrpSpPr/>
          <p:nvPr/>
        </p:nvGrpSpPr>
        <p:grpSpPr>
          <a:xfrm>
            <a:off x="632160" y="2014733"/>
            <a:ext cx="5220000" cy="475488"/>
            <a:chOff x="632160" y="1906445"/>
            <a:chExt cx="5220000" cy="475488"/>
          </a:xfrm>
        </p:grpSpPr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BFF799C2-E070-DB98-4FF5-F325CDF90FEE}"/>
                </a:ext>
              </a:extLst>
            </p:cNvPr>
            <p:cNvSpPr/>
            <p:nvPr/>
          </p:nvSpPr>
          <p:spPr>
            <a:xfrm>
              <a:off x="632160" y="1906445"/>
              <a:ext cx="5220000" cy="475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F2F5F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0630BDAC-0017-341B-79B8-16DB1A6126D0}"/>
                </a:ext>
              </a:extLst>
            </p:cNvPr>
            <p:cNvSpPr/>
            <p:nvPr/>
          </p:nvSpPr>
          <p:spPr>
            <a:xfrm>
              <a:off x="777600" y="1970453"/>
              <a:ext cx="180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OS</a:t>
              </a:r>
              <a:endPara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D5B27AEF-904D-F11D-C07D-817C423A1D3C}"/>
                </a:ext>
              </a:extLst>
            </p:cNvPr>
            <p:cNvSpPr/>
            <p:nvPr/>
          </p:nvSpPr>
          <p:spPr>
            <a:xfrm>
              <a:off x="2721600" y="1970453"/>
              <a:ext cx="288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macOS (Apple Silicon M4)</a:t>
              </a:r>
              <a:endParaRPr lang="en-US" sz="12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2296DE3-FDD6-A21A-A842-9592B6D96BC3}"/>
              </a:ext>
            </a:extLst>
          </p:cNvPr>
          <p:cNvGrpSpPr/>
          <p:nvPr/>
        </p:nvGrpSpPr>
        <p:grpSpPr>
          <a:xfrm>
            <a:off x="632160" y="3090485"/>
            <a:ext cx="5220000" cy="475488"/>
            <a:chOff x="632160" y="2982197"/>
            <a:chExt cx="5220000" cy="475488"/>
          </a:xfrm>
        </p:grpSpPr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3E3AE57C-5371-25BA-A9AE-6E9FCEBFA43C}"/>
                </a:ext>
              </a:extLst>
            </p:cNvPr>
            <p:cNvSpPr/>
            <p:nvPr/>
          </p:nvSpPr>
          <p:spPr>
            <a:xfrm>
              <a:off x="632160" y="2982197"/>
              <a:ext cx="5220000" cy="475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F2F5F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DE9905B4-EBF7-90E8-13DB-A1A7C41C2A64}"/>
                </a:ext>
              </a:extLst>
            </p:cNvPr>
            <p:cNvSpPr/>
            <p:nvPr/>
          </p:nvSpPr>
          <p:spPr>
            <a:xfrm>
              <a:off x="777600" y="3046205"/>
              <a:ext cx="180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Python</a:t>
              </a:r>
              <a:endPara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CC6118B6-CBA8-6248-2C9B-1B52C53896FF}"/>
                </a:ext>
              </a:extLst>
            </p:cNvPr>
            <p:cNvSpPr/>
            <p:nvPr/>
          </p:nvSpPr>
          <p:spPr>
            <a:xfrm>
              <a:off x="2721600" y="3046205"/>
              <a:ext cx="288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3.10 (conda, rl_chem env)</a:t>
              </a:r>
              <a:endParaRPr lang="en-US" sz="12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4D12C0EE-79D3-F545-FE4B-46DE225C5CEA}"/>
              </a:ext>
            </a:extLst>
          </p:cNvPr>
          <p:cNvGrpSpPr/>
          <p:nvPr/>
        </p:nvGrpSpPr>
        <p:grpSpPr>
          <a:xfrm>
            <a:off x="632160" y="3620837"/>
            <a:ext cx="5220000" cy="475488"/>
            <a:chOff x="632160" y="3512549"/>
            <a:chExt cx="5220000" cy="475488"/>
          </a:xfrm>
        </p:grpSpPr>
        <p:sp>
          <p:nvSpPr>
            <p:cNvPr id="14" name="Shape 13">
              <a:extLst>
                <a:ext uri="{FF2B5EF4-FFF2-40B4-BE49-F238E27FC236}">
                  <a16:creationId xmlns:a16="http://schemas.microsoft.com/office/drawing/2014/main" id="{A5BE1D1B-56E8-75AC-EED8-6BEBB90B64D4}"/>
                </a:ext>
              </a:extLst>
            </p:cNvPr>
            <p:cNvSpPr/>
            <p:nvPr/>
          </p:nvSpPr>
          <p:spPr>
            <a:xfrm>
              <a:off x="632160" y="3512549"/>
              <a:ext cx="5220000" cy="475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F2F5F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D7512130-F9D5-06A8-A97F-39AA543164E5}"/>
                </a:ext>
              </a:extLst>
            </p:cNvPr>
            <p:cNvSpPr/>
            <p:nvPr/>
          </p:nvSpPr>
          <p:spPr>
            <a:xfrm>
              <a:off x="777600" y="3576557"/>
              <a:ext cx="180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PyTorch</a:t>
              </a:r>
              <a:endPara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443D0A4E-2AE3-CD35-D201-6C1CEE4D8562}"/>
                </a:ext>
              </a:extLst>
            </p:cNvPr>
            <p:cNvSpPr/>
            <p:nvPr/>
          </p:nvSpPr>
          <p:spPr>
            <a:xfrm>
              <a:off x="2721600" y="3576557"/>
              <a:ext cx="288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2.x (MPS 가속)</a:t>
              </a:r>
              <a:endParaRPr lang="en-US" sz="12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1AA705A-AAE7-4CE3-2C2B-38A86C919776}"/>
              </a:ext>
            </a:extLst>
          </p:cNvPr>
          <p:cNvGrpSpPr/>
          <p:nvPr/>
        </p:nvGrpSpPr>
        <p:grpSpPr>
          <a:xfrm>
            <a:off x="632160" y="4151189"/>
            <a:ext cx="5220000" cy="475488"/>
            <a:chOff x="632160" y="4042901"/>
            <a:chExt cx="5220000" cy="475488"/>
          </a:xfrm>
        </p:grpSpPr>
        <p:sp>
          <p:nvSpPr>
            <p:cNvPr id="17" name="Shape 16">
              <a:extLst>
                <a:ext uri="{FF2B5EF4-FFF2-40B4-BE49-F238E27FC236}">
                  <a16:creationId xmlns:a16="http://schemas.microsoft.com/office/drawing/2014/main" id="{C938C029-5CB9-0C08-850F-1023D01E2F50}"/>
                </a:ext>
              </a:extLst>
            </p:cNvPr>
            <p:cNvSpPr/>
            <p:nvPr/>
          </p:nvSpPr>
          <p:spPr>
            <a:xfrm>
              <a:off x="632160" y="4042901"/>
              <a:ext cx="5220000" cy="475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F2F5F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3D275DC0-AFB0-C501-A089-7D049491ECDE}"/>
                </a:ext>
              </a:extLst>
            </p:cNvPr>
            <p:cNvSpPr/>
            <p:nvPr/>
          </p:nvSpPr>
          <p:spPr>
            <a:xfrm>
              <a:off x="777600" y="4106909"/>
              <a:ext cx="180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RDKit</a:t>
              </a:r>
              <a:endPara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BFD9368A-532A-9477-B440-DAE68C971AA2}"/>
                </a:ext>
              </a:extLst>
            </p:cNvPr>
            <p:cNvSpPr/>
            <p:nvPr/>
          </p:nvSpPr>
          <p:spPr>
            <a:xfrm>
              <a:off x="2721600" y="4106909"/>
              <a:ext cx="288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Morgan Fingerprint 생성</a:t>
              </a:r>
              <a:endParaRPr lang="en-US" sz="12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733A28D9-9CCC-3F93-F73E-9428E76FA867}"/>
              </a:ext>
            </a:extLst>
          </p:cNvPr>
          <p:cNvGrpSpPr/>
          <p:nvPr/>
        </p:nvGrpSpPr>
        <p:grpSpPr>
          <a:xfrm>
            <a:off x="632160" y="4681541"/>
            <a:ext cx="5220000" cy="475488"/>
            <a:chOff x="632160" y="4573253"/>
            <a:chExt cx="5220000" cy="475488"/>
          </a:xfrm>
        </p:grpSpPr>
        <p:sp>
          <p:nvSpPr>
            <p:cNvPr id="20" name="Shape 19">
              <a:extLst>
                <a:ext uri="{FF2B5EF4-FFF2-40B4-BE49-F238E27FC236}">
                  <a16:creationId xmlns:a16="http://schemas.microsoft.com/office/drawing/2014/main" id="{5CF7A04D-C08A-A857-8E07-A9AF7F2C1E3C}"/>
                </a:ext>
              </a:extLst>
            </p:cNvPr>
            <p:cNvSpPr/>
            <p:nvPr/>
          </p:nvSpPr>
          <p:spPr>
            <a:xfrm>
              <a:off x="632160" y="4573253"/>
              <a:ext cx="5220000" cy="475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F2F5F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AB81CCB3-AA26-DE40-18B7-D7B87B4CCA0E}"/>
                </a:ext>
              </a:extLst>
            </p:cNvPr>
            <p:cNvSpPr/>
            <p:nvPr/>
          </p:nvSpPr>
          <p:spPr>
            <a:xfrm>
              <a:off x="777600" y="4637261"/>
              <a:ext cx="180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scikit-learn</a:t>
              </a:r>
              <a:endPara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0EBF6403-8071-D3E1-9468-33B59479FD51}"/>
                </a:ext>
              </a:extLst>
            </p:cNvPr>
            <p:cNvSpPr/>
            <p:nvPr/>
          </p:nvSpPr>
          <p:spPr>
            <a:xfrm>
              <a:off x="2721600" y="4637261"/>
              <a:ext cx="288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RandomForestRegressor</a:t>
              </a:r>
              <a:endParaRPr lang="en-US" sz="12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EE370D45-8CF8-391D-8889-82C5CC1FB2CC}"/>
              </a:ext>
            </a:extLst>
          </p:cNvPr>
          <p:cNvGrpSpPr/>
          <p:nvPr/>
        </p:nvGrpSpPr>
        <p:grpSpPr>
          <a:xfrm>
            <a:off x="632160" y="5211893"/>
            <a:ext cx="5220000" cy="475488"/>
            <a:chOff x="632160" y="5103605"/>
            <a:chExt cx="5220000" cy="475488"/>
          </a:xfrm>
        </p:grpSpPr>
        <p:sp>
          <p:nvSpPr>
            <p:cNvPr id="23" name="Shape 22">
              <a:extLst>
                <a:ext uri="{FF2B5EF4-FFF2-40B4-BE49-F238E27FC236}">
                  <a16:creationId xmlns:a16="http://schemas.microsoft.com/office/drawing/2014/main" id="{CDA1AAB1-AC5C-D009-CBC6-064C85F07465}"/>
                </a:ext>
              </a:extLst>
            </p:cNvPr>
            <p:cNvSpPr/>
            <p:nvPr/>
          </p:nvSpPr>
          <p:spPr>
            <a:xfrm>
              <a:off x="632160" y="5103605"/>
              <a:ext cx="5220000" cy="475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F2F5F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D7DDA38A-9BA0-A979-D2D2-C44E8A7FA8A3}"/>
                </a:ext>
              </a:extLst>
            </p:cNvPr>
            <p:cNvSpPr/>
            <p:nvPr/>
          </p:nvSpPr>
          <p:spPr>
            <a:xfrm>
              <a:off x="777600" y="5167613"/>
              <a:ext cx="180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Gymnasium</a:t>
              </a:r>
              <a:endPara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" name="Text 24">
              <a:extLst>
                <a:ext uri="{FF2B5EF4-FFF2-40B4-BE49-F238E27FC236}">
                  <a16:creationId xmlns:a16="http://schemas.microsoft.com/office/drawing/2014/main" id="{1359E25A-6998-A40F-7B6A-F88616704884}"/>
                </a:ext>
              </a:extLst>
            </p:cNvPr>
            <p:cNvSpPr/>
            <p:nvPr/>
          </p:nvSpPr>
          <p:spPr>
            <a:xfrm>
              <a:off x="2721600" y="5167613"/>
              <a:ext cx="288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RL 환경 표준 인터페이스</a:t>
              </a:r>
              <a:endParaRPr lang="en-US" sz="12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E6A4414-64DE-A977-3D7E-EDA65265DDC4}"/>
              </a:ext>
            </a:extLst>
          </p:cNvPr>
          <p:cNvGrpSpPr/>
          <p:nvPr/>
        </p:nvGrpSpPr>
        <p:grpSpPr>
          <a:xfrm>
            <a:off x="632160" y="5742245"/>
            <a:ext cx="5220000" cy="475488"/>
            <a:chOff x="632160" y="5633957"/>
            <a:chExt cx="5220000" cy="475488"/>
          </a:xfrm>
        </p:grpSpPr>
        <p:sp>
          <p:nvSpPr>
            <p:cNvPr id="26" name="Shape 25">
              <a:extLst>
                <a:ext uri="{FF2B5EF4-FFF2-40B4-BE49-F238E27FC236}">
                  <a16:creationId xmlns:a16="http://schemas.microsoft.com/office/drawing/2014/main" id="{66F877A9-AF69-F23B-D6E4-8B1610B9FF0D}"/>
                </a:ext>
              </a:extLst>
            </p:cNvPr>
            <p:cNvSpPr/>
            <p:nvPr/>
          </p:nvSpPr>
          <p:spPr>
            <a:xfrm>
              <a:off x="632160" y="5633957"/>
              <a:ext cx="5220000" cy="475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F2F5F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7" name="Text 26">
              <a:extLst>
                <a:ext uri="{FF2B5EF4-FFF2-40B4-BE49-F238E27FC236}">
                  <a16:creationId xmlns:a16="http://schemas.microsoft.com/office/drawing/2014/main" id="{8AE3B390-C7D0-82FA-4CFA-2A25C4073CD7}"/>
                </a:ext>
              </a:extLst>
            </p:cNvPr>
            <p:cNvSpPr/>
            <p:nvPr/>
          </p:nvSpPr>
          <p:spPr>
            <a:xfrm>
              <a:off x="777600" y="5697965"/>
              <a:ext cx="180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DeepChem</a:t>
              </a:r>
              <a:endPara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AFC00C34-490A-CE6D-D480-3BCB190315D9}"/>
                </a:ext>
              </a:extLst>
            </p:cNvPr>
            <p:cNvSpPr/>
            <p:nvPr/>
          </p:nvSpPr>
          <p:spPr>
            <a:xfrm>
              <a:off x="2721600" y="5697965"/>
              <a:ext cx="288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QM9 데이터셋 로드</a:t>
              </a:r>
              <a:endParaRPr lang="en-US" sz="12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45571AFD-C477-B344-0269-EEC902F32DAA}"/>
              </a:ext>
            </a:extLst>
          </p:cNvPr>
          <p:cNvGrpSpPr/>
          <p:nvPr/>
        </p:nvGrpSpPr>
        <p:grpSpPr>
          <a:xfrm>
            <a:off x="632160" y="2550989"/>
            <a:ext cx="5220000" cy="475488"/>
            <a:chOff x="632160" y="2442701"/>
            <a:chExt cx="5220000" cy="475488"/>
          </a:xfrm>
        </p:grpSpPr>
        <p:sp>
          <p:nvSpPr>
            <p:cNvPr id="46" name="Shape 25">
              <a:extLst>
                <a:ext uri="{FF2B5EF4-FFF2-40B4-BE49-F238E27FC236}">
                  <a16:creationId xmlns:a16="http://schemas.microsoft.com/office/drawing/2014/main" id="{B8F9327B-7032-AF12-7982-6D91FB365AC9}"/>
                </a:ext>
              </a:extLst>
            </p:cNvPr>
            <p:cNvSpPr/>
            <p:nvPr/>
          </p:nvSpPr>
          <p:spPr>
            <a:xfrm>
              <a:off x="632160" y="2442701"/>
              <a:ext cx="5220000" cy="4754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F2F5F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7" name="Text 8">
              <a:extLst>
                <a:ext uri="{FF2B5EF4-FFF2-40B4-BE49-F238E27FC236}">
                  <a16:creationId xmlns:a16="http://schemas.microsoft.com/office/drawing/2014/main" id="{88A0951F-9E0E-A972-6273-B37449A7E012}"/>
                </a:ext>
              </a:extLst>
            </p:cNvPr>
            <p:cNvSpPr/>
            <p:nvPr/>
          </p:nvSpPr>
          <p:spPr>
            <a:xfrm>
              <a:off x="777600" y="2506709"/>
              <a:ext cx="180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Device</a:t>
              </a:r>
              <a:endPara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8" name="Text 9">
              <a:extLst>
                <a:ext uri="{FF2B5EF4-FFF2-40B4-BE49-F238E27FC236}">
                  <a16:creationId xmlns:a16="http://schemas.microsoft.com/office/drawing/2014/main" id="{F4572796-404D-9530-57B9-63A3B4FD90F1}"/>
                </a:ext>
              </a:extLst>
            </p:cNvPr>
            <p:cNvSpPr/>
            <p:nvPr/>
          </p:nvSpPr>
          <p:spPr>
            <a:xfrm>
              <a:off x="2721600" y="2506709"/>
              <a:ext cx="2880000" cy="347472"/>
            </a:xfrm>
            <a:prstGeom prst="rect">
              <a:avLst/>
            </a:prstGeom>
            <a:noFill/>
            <a:ln>
              <a:solidFill>
                <a:srgbClr val="F2F5F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MPS (Metal Performance Shaders)</a:t>
              </a:r>
              <a:endParaRPr lang="en-US" sz="1150" dirty="0"/>
            </a:p>
          </p:txBody>
        </p:sp>
      </p:grpSp>
      <p:sp>
        <p:nvSpPr>
          <p:cNvPr id="70" name="슬라이드 번호 개체 틀 69">
            <a:extLst>
              <a:ext uri="{FF2B5EF4-FFF2-40B4-BE49-F238E27FC236}">
                <a16:creationId xmlns:a16="http://schemas.microsoft.com/office/drawing/2014/main" id="{8CF39EAC-67CD-F1B7-65FD-1A514E1F5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pPr/>
              <a:t>4</a:t>
            </a:fld>
            <a:endParaRPr kumimoji="1" lang="ko-KR" altLang="en-US" sz="40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6934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40C46-CC35-C00A-03B9-B343102D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cs typeface="Malgun Gothic" pitchFamily="34" charset="-120"/>
              </a:rPr>
              <a:t>Surrogate Model</a:t>
            </a:r>
            <a:endParaRPr kumimoji="1" lang="ko-KR" altLang="en-US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7CA1AE16-5393-15B7-A1B1-38F85781A737}"/>
              </a:ext>
            </a:extLst>
          </p:cNvPr>
          <p:cNvSpPr/>
          <p:nvPr/>
        </p:nvSpPr>
        <p:spPr>
          <a:xfrm>
            <a:off x="594360" y="557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→ 강화학습 환경의 물성 평가 함수로 활용 (DFT 계산 대체)</a:t>
            </a:r>
            <a:endParaRPr lang="en-US" sz="1400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68DC84-71E9-2CE6-D663-01F05AE16BC7}"/>
              </a:ext>
            </a:extLst>
          </p:cNvPr>
          <p:cNvSpPr txBox="1"/>
          <p:nvPr/>
        </p:nvSpPr>
        <p:spPr>
          <a:xfrm>
            <a:off x="540000" y="1152000"/>
            <a:ext cx="6097772" cy="897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latinLnBrk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300" kern="100" dirty="0">
                <a:effectLst/>
                <a:latin typeface="NanumGothic" panose="020D0604000000000000" pitchFamily="34" charset="-127"/>
                <a:ea typeface="NanumGothic" panose="020D0604000000000000" pitchFamily="34" charset="-127"/>
                <a:cs typeface="Times New Roman" panose="02020603050405020304" pitchFamily="18" charset="0"/>
              </a:rPr>
              <a:t>반복적인</a:t>
            </a:r>
            <a:r>
              <a:rPr lang="en-US" altLang="ko-KR" sz="1300" kern="100" dirty="0">
                <a:effectLst/>
                <a:latin typeface="NanumGothic" panose="020D0604000000000000" pitchFamily="34" charset="-127"/>
                <a:ea typeface="NanumGothic" panose="020D0604000000000000" pitchFamily="34" charset="-127"/>
                <a:cs typeface="Times New Roman" panose="02020603050405020304" pitchFamily="18" charset="0"/>
              </a:rPr>
              <a:t> DFT </a:t>
            </a:r>
            <a:r>
              <a:rPr lang="ko-KR" altLang="ko-KR" sz="1300" kern="100" dirty="0">
                <a:effectLst/>
                <a:latin typeface="NanumGothic" panose="020D0604000000000000" pitchFamily="34" charset="-127"/>
                <a:ea typeface="NanumGothic" panose="020D0604000000000000" pitchFamily="34" charset="-127"/>
                <a:cs typeface="Times New Roman" panose="02020603050405020304" pitchFamily="18" charset="0"/>
              </a:rPr>
              <a:t>계산 대체 </a:t>
            </a:r>
          </a:p>
          <a:p>
            <a:pPr marL="171450" indent="-171450" latinLnBrk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300" kern="100" dirty="0">
                <a:effectLst/>
                <a:latin typeface="NanumGothic" panose="020D0604000000000000" pitchFamily="34" charset="-127"/>
                <a:ea typeface="NanumGothic" panose="020D0604000000000000" pitchFamily="34" charset="-127"/>
                <a:cs typeface="Times New Roman" panose="02020603050405020304" pitchFamily="18" charset="0"/>
              </a:rPr>
              <a:t>분자 구조 기반</a:t>
            </a:r>
            <a:r>
              <a:rPr lang="en-US" altLang="ko-KR" sz="1300" kern="100" dirty="0">
                <a:effectLst/>
                <a:latin typeface="NanumGothic" panose="020D0604000000000000" pitchFamily="34" charset="-127"/>
                <a:ea typeface="NanumGothic" panose="020D0604000000000000" pitchFamily="34" charset="-127"/>
                <a:cs typeface="Times New Roman" panose="02020603050405020304" pitchFamily="18" charset="0"/>
              </a:rPr>
              <a:t> Dipole Moment </a:t>
            </a:r>
            <a:r>
              <a:rPr lang="ko-KR" altLang="ko-KR" sz="1300" kern="100" dirty="0">
                <a:effectLst/>
                <a:latin typeface="NanumGothic" panose="020D0604000000000000" pitchFamily="34" charset="-127"/>
                <a:ea typeface="NanumGothic" panose="020D0604000000000000" pitchFamily="34" charset="-127"/>
                <a:cs typeface="Times New Roman" panose="02020603050405020304" pitchFamily="18" charset="0"/>
              </a:rPr>
              <a:t>예측 </a:t>
            </a:r>
          </a:p>
          <a:p>
            <a:pPr marL="171450" indent="-171450" latinLnBrk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300" kern="100" dirty="0">
                <a:effectLst/>
                <a:latin typeface="NanumGothic" panose="020D0604000000000000" pitchFamily="34" charset="-127"/>
                <a:ea typeface="NanumGothic" panose="020D0604000000000000" pitchFamily="34" charset="-127"/>
                <a:cs typeface="Times New Roman" panose="02020603050405020304" pitchFamily="18" charset="0"/>
              </a:rPr>
              <a:t>강화학습</a:t>
            </a:r>
            <a:r>
              <a:rPr lang="en-US" altLang="ko-KR" sz="1300" kern="100" dirty="0">
                <a:effectLst/>
                <a:latin typeface="NanumGothic" panose="020D0604000000000000" pitchFamily="34" charset="-127"/>
                <a:ea typeface="NanumGothic" panose="020D0604000000000000" pitchFamily="34" charset="-127"/>
                <a:cs typeface="Times New Roman" panose="02020603050405020304" pitchFamily="18" charset="0"/>
              </a:rPr>
              <a:t> Reward </a:t>
            </a:r>
            <a:r>
              <a:rPr lang="ko-KR" altLang="ko-KR" sz="1300" kern="100" dirty="0">
                <a:effectLst/>
                <a:latin typeface="NanumGothic" panose="020D0604000000000000" pitchFamily="34" charset="-127"/>
                <a:ea typeface="NanumGothic" panose="020D0604000000000000" pitchFamily="34" charset="-127"/>
                <a:cs typeface="Times New Roman" panose="02020603050405020304" pitchFamily="18" charset="0"/>
              </a:rPr>
              <a:t>계산에 활용</a:t>
            </a: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B0AFFB26-E01B-B147-3A0A-48DF449DFF84}"/>
              </a:ext>
            </a:extLst>
          </p:cNvPr>
          <p:cNvGrpSpPr/>
          <p:nvPr/>
        </p:nvGrpSpPr>
        <p:grpSpPr>
          <a:xfrm>
            <a:off x="540000" y="3736636"/>
            <a:ext cx="11112000" cy="1440000"/>
            <a:chOff x="540000" y="3736636"/>
            <a:chExt cx="11112000" cy="1440000"/>
          </a:xfrm>
        </p:grpSpPr>
        <p:sp>
          <p:nvSpPr>
            <p:cNvPr id="61" name="Shape 2">
              <a:extLst>
                <a:ext uri="{FF2B5EF4-FFF2-40B4-BE49-F238E27FC236}">
                  <a16:creationId xmlns:a16="http://schemas.microsoft.com/office/drawing/2014/main" id="{83792C0C-31FC-60B9-468E-04EA5856C2A4}"/>
                </a:ext>
              </a:extLst>
            </p:cNvPr>
            <p:cNvSpPr/>
            <p:nvPr/>
          </p:nvSpPr>
          <p:spPr>
            <a:xfrm>
              <a:off x="540000" y="3736636"/>
              <a:ext cx="3420000" cy="1440000"/>
            </a:xfrm>
            <a:prstGeom prst="rect">
              <a:avLst/>
            </a:prstGeom>
            <a:solidFill>
              <a:srgbClr val="FFC001">
                <a:alpha val="75000"/>
              </a:srgbClr>
            </a:solidFill>
            <a:ln w="12700">
              <a:solidFill>
                <a:schemeClr val="accent4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5" name="Shape 8">
              <a:extLst>
                <a:ext uri="{FF2B5EF4-FFF2-40B4-BE49-F238E27FC236}">
                  <a16:creationId xmlns:a16="http://schemas.microsoft.com/office/drawing/2014/main" id="{8DC5BF48-28CF-32EE-A755-2F0B4B7E73A3}"/>
                </a:ext>
              </a:extLst>
            </p:cNvPr>
            <p:cNvSpPr/>
            <p:nvPr/>
          </p:nvSpPr>
          <p:spPr>
            <a:xfrm>
              <a:off x="4386000" y="3736636"/>
              <a:ext cx="3420000" cy="1440000"/>
            </a:xfrm>
            <a:prstGeom prst="rect">
              <a:avLst/>
            </a:prstGeom>
            <a:solidFill>
              <a:srgbClr val="FFC001">
                <a:alpha val="75000"/>
              </a:srgbClr>
            </a:solidFill>
            <a:ln w="12700">
              <a:solidFill>
                <a:schemeClr val="accent4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9" name="Shape 11">
              <a:extLst>
                <a:ext uri="{FF2B5EF4-FFF2-40B4-BE49-F238E27FC236}">
                  <a16:creationId xmlns:a16="http://schemas.microsoft.com/office/drawing/2014/main" id="{62928986-22F7-79C4-D6B0-3140DC59ADC8}"/>
                </a:ext>
              </a:extLst>
            </p:cNvPr>
            <p:cNvSpPr/>
            <p:nvPr/>
          </p:nvSpPr>
          <p:spPr>
            <a:xfrm>
              <a:off x="8232000" y="3736636"/>
              <a:ext cx="3420000" cy="1440000"/>
            </a:xfrm>
            <a:prstGeom prst="rect">
              <a:avLst/>
            </a:prstGeom>
            <a:solidFill>
              <a:srgbClr val="FFC001">
                <a:alpha val="75000"/>
              </a:srgbClr>
            </a:solidFill>
            <a:ln w="12700">
              <a:solidFill>
                <a:schemeClr val="accent4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899FA5AF-42B2-C386-159F-5E4845067D30}"/>
                </a:ext>
              </a:extLst>
            </p:cNvPr>
            <p:cNvSpPr/>
            <p:nvPr/>
          </p:nvSpPr>
          <p:spPr>
            <a:xfrm>
              <a:off x="667596" y="4677278"/>
              <a:ext cx="2880000" cy="432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Dipole Moment 변동의 약 72% 설명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E997F614-A30C-0E9D-80A6-6AAF0ADFE76A}"/>
                </a:ext>
              </a:extLst>
            </p:cNvPr>
            <p:cNvSpPr/>
            <p:nvPr/>
          </p:nvSpPr>
          <p:spPr>
            <a:xfrm>
              <a:off x="4513596" y="4677278"/>
              <a:ext cx="2880000" cy="432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평균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제곱근 오차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6" name="Text 25">
              <a:extLst>
                <a:ext uri="{FF2B5EF4-FFF2-40B4-BE49-F238E27FC236}">
                  <a16:creationId xmlns:a16="http://schemas.microsoft.com/office/drawing/2014/main" id="{1564704B-5872-2F81-B6D7-AC5675AD4297}"/>
                </a:ext>
              </a:extLst>
            </p:cNvPr>
            <p:cNvSpPr/>
            <p:nvPr/>
          </p:nvSpPr>
          <p:spPr>
            <a:xfrm>
              <a:off x="8359596" y="4677278"/>
              <a:ext cx="2880000" cy="432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평균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 절대 오차 약 0.53 Debye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EBC3BFE6-AE80-38A8-AA80-6A897F5F3C4A}"/>
                </a:ext>
              </a:extLst>
            </p:cNvPr>
            <p:cNvSpPr/>
            <p:nvPr/>
          </p:nvSpPr>
          <p:spPr>
            <a:xfrm>
              <a:off x="667596" y="3862599"/>
              <a:ext cx="1080000" cy="432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R</a:t>
              </a:r>
              <a:r>
                <a:rPr lang="en-US" sz="1600" b="1" baseline="30000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</a:t>
              </a:r>
              <a:endParaRPr lang="en-US" sz="1600" baseline="300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ECC45670-A2F3-1835-7C02-724C981DEE5B}"/>
                </a:ext>
              </a:extLst>
            </p:cNvPr>
            <p:cNvSpPr/>
            <p:nvPr/>
          </p:nvSpPr>
          <p:spPr>
            <a:xfrm>
              <a:off x="1916203" y="4234478"/>
              <a:ext cx="180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0.7185</a:t>
              </a:r>
              <a:endParaRPr lang="en-US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3C754CA1-B0E0-7CD7-8BE1-601138ED6649}"/>
                </a:ext>
              </a:extLst>
            </p:cNvPr>
            <p:cNvSpPr/>
            <p:nvPr/>
          </p:nvSpPr>
          <p:spPr>
            <a:xfrm>
              <a:off x="4513596" y="3862599"/>
              <a:ext cx="1080000" cy="432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RMSE</a:t>
              </a:r>
              <a:endParaRPr lang="en-US" sz="16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049A49DE-4FE8-158C-FAEA-E570BF06FC6B}"/>
                </a:ext>
              </a:extLst>
            </p:cNvPr>
            <p:cNvSpPr/>
            <p:nvPr/>
          </p:nvSpPr>
          <p:spPr>
            <a:xfrm>
              <a:off x="5762203" y="4234478"/>
              <a:ext cx="180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0.8142 D</a:t>
              </a:r>
              <a:endParaRPr lang="en-US" dirty="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AD575DA2-5E22-7C63-DB42-4F283FA11EBB}"/>
                </a:ext>
              </a:extLst>
            </p:cNvPr>
            <p:cNvSpPr/>
            <p:nvPr/>
          </p:nvSpPr>
          <p:spPr>
            <a:xfrm>
              <a:off x="8359596" y="3862599"/>
              <a:ext cx="1080000" cy="432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MAE</a:t>
              </a:r>
              <a:endParaRPr lang="en-US" sz="16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" name="Text 24">
              <a:extLst>
                <a:ext uri="{FF2B5EF4-FFF2-40B4-BE49-F238E27FC236}">
                  <a16:creationId xmlns:a16="http://schemas.microsoft.com/office/drawing/2014/main" id="{220D87A8-AD08-879A-3B8F-A16E6E8C9A78}"/>
                </a:ext>
              </a:extLst>
            </p:cNvPr>
            <p:cNvSpPr/>
            <p:nvPr/>
          </p:nvSpPr>
          <p:spPr>
            <a:xfrm>
              <a:off x="9608203" y="4234478"/>
              <a:ext cx="180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b="1" dirty="0"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0.5313 D</a:t>
              </a:r>
              <a:endParaRPr lang="en-US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7441B9A-688E-812F-B293-0365BA40B463}"/>
              </a:ext>
            </a:extLst>
          </p:cNvPr>
          <p:cNvGrpSpPr/>
          <p:nvPr/>
        </p:nvGrpSpPr>
        <p:grpSpPr>
          <a:xfrm>
            <a:off x="540000" y="2412000"/>
            <a:ext cx="11112000" cy="1080000"/>
            <a:chOff x="540000" y="2412000"/>
            <a:chExt cx="11112000" cy="1080000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1CB008D0-EBF2-8C3B-FC33-43306857F076}"/>
                </a:ext>
              </a:extLst>
            </p:cNvPr>
            <p:cNvSpPr/>
            <p:nvPr/>
          </p:nvSpPr>
          <p:spPr>
            <a:xfrm>
              <a:off x="540000" y="2412000"/>
              <a:ext cx="2340000" cy="108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300" b="1" dirty="0">
                  <a:solidFill>
                    <a:schemeClr val="accent4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SMILES</a:t>
              </a:r>
              <a:endParaRPr lang="en-US" altLang="ko-KR" sz="1300" b="1" dirty="0">
                <a:solidFill>
                  <a:schemeClr val="accent4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90F7D7B4-D5E3-9307-BCB8-0D9FE443CE39}"/>
                </a:ext>
              </a:extLst>
            </p:cNvPr>
            <p:cNvSpPr/>
            <p:nvPr/>
          </p:nvSpPr>
          <p:spPr>
            <a:xfrm>
              <a:off x="3464000" y="2412000"/>
              <a:ext cx="2340000" cy="108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300" b="1" dirty="0">
                  <a:solidFill>
                    <a:schemeClr val="accent4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Morgan Fingerprint</a:t>
              </a:r>
              <a:endParaRPr lang="en-US" altLang="ko-KR" sz="1300" b="1" dirty="0">
                <a:solidFill>
                  <a:schemeClr val="accent4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300" b="1" dirty="0">
                  <a:solidFill>
                    <a:schemeClr val="accent4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(2048 bit)</a:t>
              </a:r>
              <a:endParaRPr lang="en-US" altLang="ko-KR" sz="1300" b="1" dirty="0">
                <a:solidFill>
                  <a:schemeClr val="accent4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DD4D00BF-8BAF-4063-8921-01FD27F3712D}"/>
                </a:ext>
              </a:extLst>
            </p:cNvPr>
            <p:cNvSpPr/>
            <p:nvPr/>
          </p:nvSpPr>
          <p:spPr>
            <a:xfrm>
              <a:off x="6388000" y="2412000"/>
              <a:ext cx="2340000" cy="108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300" b="1" dirty="0">
                  <a:solidFill>
                    <a:schemeClr val="accent4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Random Forest</a:t>
              </a:r>
              <a:endParaRPr lang="en-US" altLang="ko-KR" sz="1300" b="1" dirty="0">
                <a:solidFill>
                  <a:schemeClr val="accent4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300" b="1" dirty="0">
                  <a:solidFill>
                    <a:schemeClr val="accent4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Regressor</a:t>
              </a:r>
              <a:endParaRPr lang="en-US" altLang="ko-KR" sz="1300" b="1" dirty="0">
                <a:solidFill>
                  <a:schemeClr val="accent4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3" name="Shape 12">
              <a:extLst>
                <a:ext uri="{FF2B5EF4-FFF2-40B4-BE49-F238E27FC236}">
                  <a16:creationId xmlns:a16="http://schemas.microsoft.com/office/drawing/2014/main" id="{21375016-A25B-E787-5B1D-7033D399D96E}"/>
                </a:ext>
              </a:extLst>
            </p:cNvPr>
            <p:cNvSpPr/>
            <p:nvPr/>
          </p:nvSpPr>
          <p:spPr>
            <a:xfrm>
              <a:off x="9312000" y="2412000"/>
              <a:ext cx="2340000" cy="108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300" b="1" dirty="0">
                  <a:solidFill>
                    <a:schemeClr val="accent4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Dipole Moment</a:t>
              </a:r>
              <a:endParaRPr lang="en-US" altLang="ko-KR" sz="1300" b="1" dirty="0">
                <a:solidFill>
                  <a:schemeClr val="accent4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300" b="1" dirty="0">
                  <a:solidFill>
                    <a:schemeClr val="accent4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Prediction</a:t>
              </a:r>
              <a:endParaRPr lang="en-US" altLang="ko-KR" sz="1300" b="1" dirty="0">
                <a:solidFill>
                  <a:schemeClr val="accent4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4CB0F3B2-2257-CF8B-4AC7-18C404586AAF}"/>
                </a:ext>
              </a:extLst>
            </p:cNvPr>
            <p:cNvCxnSpPr>
              <a:cxnSpLocks/>
            </p:cNvCxnSpPr>
            <p:nvPr/>
          </p:nvCxnSpPr>
          <p:spPr>
            <a:xfrm>
              <a:off x="3028000" y="2952000"/>
              <a:ext cx="288000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E96DCE15-6B50-B5B3-87A0-6509736034FC}"/>
                </a:ext>
              </a:extLst>
            </p:cNvPr>
            <p:cNvCxnSpPr>
              <a:cxnSpLocks/>
            </p:cNvCxnSpPr>
            <p:nvPr/>
          </p:nvCxnSpPr>
          <p:spPr>
            <a:xfrm>
              <a:off x="5952000" y="2952000"/>
              <a:ext cx="288000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30CB975D-835A-EC42-B03D-6A15903C0733}"/>
                </a:ext>
              </a:extLst>
            </p:cNvPr>
            <p:cNvCxnSpPr>
              <a:cxnSpLocks/>
            </p:cNvCxnSpPr>
            <p:nvPr/>
          </p:nvCxnSpPr>
          <p:spPr>
            <a:xfrm>
              <a:off x="8876000" y="2952000"/>
              <a:ext cx="288000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2DDE44-9BA9-C93D-D0A6-3928CDEE4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pPr/>
              <a:t>5</a:t>
            </a:fld>
            <a:endParaRPr kumimoji="1" lang="ko-KR" altLang="en-US" sz="40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5574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82038-1AC3-0F8A-A564-D1AE78681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52020A-9D68-5CAA-7C13-9F095CE8D9A6}"/>
              </a:ext>
            </a:extLst>
          </p:cNvPr>
          <p:cNvSpPr/>
          <p:nvPr/>
        </p:nvSpPr>
        <p:spPr>
          <a:xfrm>
            <a:off x="540000" y="1260000"/>
            <a:ext cx="3420000" cy="900000"/>
          </a:xfrm>
          <a:prstGeom prst="rect">
            <a:avLst/>
          </a:prstGeom>
          <a:solidFill>
            <a:srgbClr val="F2F5FA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①</a:t>
            </a:r>
            <a:r>
              <a:rPr lang="ko-KR" altLang="en-US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QM9 </a:t>
            </a:r>
            <a:r>
              <a:rPr lang="ko-KR" altLang="en-US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로드 </a:t>
            </a:r>
            <a:r>
              <a:rPr lang="en-US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(20,000</a:t>
            </a:r>
            <a:r>
              <a:rPr lang="ko-KR" altLang="en-US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개 </a:t>
            </a:r>
            <a:r>
              <a:rPr lang="en-US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subset </a:t>
            </a:r>
            <a:r>
              <a:rPr lang="ko-KR" altLang="en-US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사용</a:t>
            </a:r>
            <a:r>
              <a:rPr lang="en-US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EFE5B0-83B5-FB2C-204F-1867DCE6118E}"/>
              </a:ext>
            </a:extLst>
          </p:cNvPr>
          <p:cNvSpPr/>
          <p:nvPr/>
        </p:nvSpPr>
        <p:spPr>
          <a:xfrm>
            <a:off x="4384800" y="1260000"/>
            <a:ext cx="3420000" cy="900000"/>
          </a:xfrm>
          <a:prstGeom prst="rect">
            <a:avLst/>
          </a:prstGeom>
          <a:solidFill>
            <a:srgbClr val="F2F5FA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②</a:t>
            </a:r>
            <a:r>
              <a:rPr lang="ko-KR" altLang="en-US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Morgan FP </a:t>
            </a:r>
            <a:r>
              <a:rPr lang="ko-KR" altLang="en-US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변환 </a:t>
            </a:r>
            <a:r>
              <a:rPr lang="en-US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(2048-</a:t>
            </a:r>
            <a:r>
              <a:rPr lang="en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bit)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4DE90E-CC42-5E65-C4D1-7A7D2FA23BD9}"/>
              </a:ext>
            </a:extLst>
          </p:cNvPr>
          <p:cNvSpPr/>
          <p:nvPr/>
        </p:nvSpPr>
        <p:spPr>
          <a:xfrm>
            <a:off x="8229600" y="1260000"/>
            <a:ext cx="3420000" cy="900000"/>
          </a:xfrm>
          <a:prstGeom prst="rect">
            <a:avLst/>
          </a:prstGeom>
          <a:solidFill>
            <a:srgbClr val="F2F5FA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③</a:t>
            </a:r>
            <a:r>
              <a:rPr lang="ko-KR" altLang="en-US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Tanimoto</a:t>
            </a:r>
            <a:r>
              <a:rPr lang="ko-KR" altLang="en-US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유사도 계산</a:t>
            </a: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1C730794-F428-0ED1-E93D-BC7DEB07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Malgun Gothic"/>
              </a:rPr>
              <a:t>화학 공간 구축</a:t>
            </a:r>
            <a:endParaRPr lang="ko-KR" altLang="en-US" dirty="0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0BA851BC-A69B-B280-0400-5AC67FDEC26E}"/>
              </a:ext>
            </a:extLst>
          </p:cNvPr>
          <p:cNvSpPr/>
          <p:nvPr/>
        </p:nvSpPr>
        <p:spPr>
          <a:xfrm>
            <a:off x="540000" y="2520000"/>
            <a:ext cx="3420000" cy="3420000"/>
          </a:xfrm>
          <a:prstGeom prst="rect">
            <a:avLst/>
          </a:prstGeom>
          <a:solidFill>
            <a:srgbClr val="F2F5FA"/>
          </a:solidFill>
          <a:ln>
            <a:solidFill>
              <a:schemeClr val="bg2"/>
            </a:solidFill>
          </a:ln>
          <a:effectLst>
            <a:outerShdw blurRad="101600" dist="38100" dir="81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9677C0-41B1-DE32-115C-05302DFCF5A9}"/>
              </a:ext>
            </a:extLst>
          </p:cNvPr>
          <p:cNvSpPr txBox="1"/>
          <p:nvPr/>
        </p:nvSpPr>
        <p:spPr>
          <a:xfrm>
            <a:off x="648000" y="2684611"/>
            <a:ext cx="324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14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데이터 로드</a:t>
            </a:r>
            <a:endParaRPr lang="en" altLang="ko-KR" sz="1400" b="1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0F38044-91E0-8FDF-D1EE-9AD934CDF8BA}"/>
              </a:ext>
            </a:extLst>
          </p:cNvPr>
          <p:cNvSpPr/>
          <p:nvPr/>
        </p:nvSpPr>
        <p:spPr>
          <a:xfrm>
            <a:off x="4384800" y="2520000"/>
            <a:ext cx="3420000" cy="3420000"/>
          </a:xfrm>
          <a:prstGeom prst="rect">
            <a:avLst/>
          </a:prstGeom>
          <a:solidFill>
            <a:srgbClr val="F2F5FA"/>
          </a:solidFill>
          <a:ln>
            <a:solidFill>
              <a:schemeClr val="bg2"/>
            </a:solidFill>
          </a:ln>
          <a:effectLst>
            <a:outerShdw blurRad="101600" dist="38100" dir="81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84CFDB-BE9B-3800-3CAB-B7F1CD0563C3}"/>
              </a:ext>
            </a:extLst>
          </p:cNvPr>
          <p:cNvSpPr txBox="1"/>
          <p:nvPr/>
        </p:nvSpPr>
        <p:spPr>
          <a:xfrm>
            <a:off x="4474800" y="2684611"/>
            <a:ext cx="324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" altLang="ko-KR" sz="14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Morgan Fingerprint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A135427F-1C8A-53D0-3AB2-76654745833B}"/>
              </a:ext>
            </a:extLst>
          </p:cNvPr>
          <p:cNvSpPr/>
          <p:nvPr/>
        </p:nvSpPr>
        <p:spPr>
          <a:xfrm>
            <a:off x="8229600" y="2520000"/>
            <a:ext cx="3420000" cy="3420000"/>
          </a:xfrm>
          <a:prstGeom prst="rect">
            <a:avLst/>
          </a:prstGeom>
          <a:solidFill>
            <a:srgbClr val="F2F5FA"/>
          </a:solidFill>
          <a:ln>
            <a:solidFill>
              <a:schemeClr val="bg2"/>
            </a:solidFill>
          </a:ln>
          <a:effectLst>
            <a:outerShdw blurRad="101600" dist="38100" dir="81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BFA063-2585-6495-30DA-D07B06911A58}"/>
              </a:ext>
            </a:extLst>
          </p:cNvPr>
          <p:cNvSpPr txBox="1"/>
          <p:nvPr/>
        </p:nvSpPr>
        <p:spPr>
          <a:xfrm>
            <a:off x="8337600" y="2684611"/>
            <a:ext cx="324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" altLang="ko-KR" sz="14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Tanimoto </a:t>
            </a:r>
            <a:r>
              <a:rPr lang="ko-KR" altLang="en-US" sz="14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유사도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A9583A-2878-A103-6C5C-BD02058746B1}"/>
              </a:ext>
            </a:extLst>
          </p:cNvPr>
          <p:cNvSpPr txBox="1"/>
          <p:nvPr/>
        </p:nvSpPr>
        <p:spPr>
          <a:xfrm>
            <a:off x="4474800" y="3239999"/>
            <a:ext cx="3240000" cy="199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분자의 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SMILES</a:t>
            </a:r>
            <a:r>
              <a:rPr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를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2048-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bit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이진 벡터로 변환</a:t>
            </a:r>
          </a:p>
          <a:p>
            <a:pPr>
              <a:lnSpc>
                <a:spcPct val="150000"/>
              </a:lnSpc>
            </a:pP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radius=2: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원자 주변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단계 환경 반영
동일 구조 → 동일 벡터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재현 가능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)
</a:t>
            </a:r>
            <a:r>
              <a:rPr lang="en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RDKit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MorganGenerator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사용</a:t>
            </a:r>
          </a:p>
          <a:p>
            <a:pPr>
              <a:lnSpc>
                <a:spcPct val="150000"/>
              </a:lnSpc>
            </a:pP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분자 구조를 수치로 표현하는 핵심 단계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23B506-F18D-C6CF-5FE7-9F89BD75A813}"/>
              </a:ext>
            </a:extLst>
          </p:cNvPr>
          <p:cNvSpPr txBox="1"/>
          <p:nvPr/>
        </p:nvSpPr>
        <p:spPr>
          <a:xfrm>
            <a:off x="630000" y="3239999"/>
            <a:ext cx="3240000" cy="891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전체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133,885개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중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20,000개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서브셋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사용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→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이웃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계산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시간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단축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→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실험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효율화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3CD48-3124-9039-F931-AAD0E56FD2E1}"/>
              </a:ext>
            </a:extLst>
          </p:cNvPr>
          <p:cNvSpPr txBox="1"/>
          <p:nvPr/>
        </p:nvSpPr>
        <p:spPr>
          <a:xfrm>
            <a:off x="8319600" y="3239999"/>
            <a:ext cx="3240000" cy="255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Fingerprint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벡터 두개의 구조적 유사도 측정</a:t>
            </a:r>
          </a:p>
          <a:p>
            <a:pPr>
              <a:lnSpc>
                <a:spcPct val="150000"/>
              </a:lnSpc>
            </a:pP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공식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: |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A∩B| / |A∪B|  (0~1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범위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)
1</a:t>
            </a:r>
            <a:r>
              <a:rPr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에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가까울수록 구조적으로 유사
계산 시점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환경 초기화 시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회만 수행
방법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분자당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300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 랜덤 샘플 → 상위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</a:t>
            </a:r>
          </a:p>
          <a:p>
            <a:pPr>
              <a:lnSpc>
                <a:spcPct val="150000"/>
              </a:lnSpc>
            </a:pP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20,000 × 20,000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전체 행렬 계산 불필요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300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 샘플링으로 효율화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780AE18-0D1D-C4CF-FEC1-E94D3BE9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pPr/>
              <a:t>6</a:t>
            </a:fld>
            <a:endParaRPr kumimoji="1" lang="ko-KR" altLang="en-US" sz="40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324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0000" y="1260000"/>
            <a:ext cx="3420000" cy="900000"/>
          </a:xfrm>
          <a:prstGeom prst="rect">
            <a:avLst/>
          </a:prstGeom>
          <a:solidFill>
            <a:srgbClr val="F2F5FA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④</a:t>
            </a:r>
            <a:r>
              <a:rPr lang="ko-KR" altLang="en-US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이웃 </a:t>
            </a:r>
            <a:r>
              <a:rPr lang="en-US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r>
              <a:rPr lang="ko-KR" altLang="en-US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개 사전 저장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4800" y="1260000"/>
            <a:ext cx="3420000" cy="900000"/>
          </a:xfrm>
          <a:prstGeom prst="rect">
            <a:avLst/>
          </a:prstGeom>
          <a:solidFill>
            <a:srgbClr val="F2F5FA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⑤</a:t>
            </a:r>
            <a:r>
              <a:rPr lang="ko-KR" altLang="en-US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Action Space</a:t>
            </a:r>
            <a:r>
              <a:rPr lang="ko-KR" altLang="en-US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구성 </a:t>
            </a:r>
            <a:r>
              <a:rPr lang="en-US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(0~9)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260000"/>
            <a:ext cx="3420000" cy="900000"/>
          </a:xfrm>
          <a:prstGeom prst="rect">
            <a:avLst/>
          </a:prstGeom>
          <a:solidFill>
            <a:srgbClr val="F2F5FA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⑥</a:t>
            </a:r>
            <a:r>
              <a:rPr lang="ko-KR" altLang="en-US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에이전트 탐색 </a:t>
            </a:r>
            <a:r>
              <a:rPr lang="en-US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(50 </a:t>
            </a:r>
            <a:r>
              <a:rPr lang="en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step)</a:t>
            </a: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990F14F4-8EB2-D814-8108-55BED458B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Malgun Gothic"/>
              </a:rPr>
              <a:t>이웃 사전 계산 및 </a:t>
            </a:r>
            <a:r>
              <a:rPr lang="en" altLang="ko-KR" dirty="0">
                <a:latin typeface="Malgun Gothic"/>
              </a:rPr>
              <a:t>Action Space </a:t>
            </a:r>
            <a:r>
              <a:rPr lang="ko-KR" altLang="en-US" dirty="0">
                <a:latin typeface="Malgun Gothic"/>
              </a:rPr>
              <a:t>구성</a:t>
            </a:r>
            <a:endParaRPr lang="ko-KR" altLang="en-US" dirty="0"/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470557BD-4791-B8EF-83ED-5D5D6805A4F2}"/>
              </a:ext>
            </a:extLst>
          </p:cNvPr>
          <p:cNvSpPr/>
          <p:nvPr/>
        </p:nvSpPr>
        <p:spPr>
          <a:xfrm>
            <a:off x="540000" y="2520000"/>
            <a:ext cx="3420000" cy="3420000"/>
          </a:xfrm>
          <a:prstGeom prst="rect">
            <a:avLst/>
          </a:prstGeom>
          <a:solidFill>
            <a:srgbClr val="F2F5FA"/>
          </a:solidFill>
          <a:ln>
            <a:solidFill>
              <a:schemeClr val="bg2"/>
            </a:solidFill>
          </a:ln>
          <a:effectLst>
            <a:outerShdw blurRad="101600" dist="38100" dir="81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3FD5CA-E555-44FB-76AB-2774186D74B4}"/>
              </a:ext>
            </a:extLst>
          </p:cNvPr>
          <p:cNvSpPr txBox="1"/>
          <p:nvPr/>
        </p:nvSpPr>
        <p:spPr>
          <a:xfrm>
            <a:off x="648000" y="2684611"/>
            <a:ext cx="324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14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이웃 사전 계산  </a:t>
            </a:r>
            <a:r>
              <a:rPr lang="en-US" altLang="ko-KR" sz="14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400" b="1" dirty="0" err="1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neighbor_map</a:t>
            </a:r>
            <a:r>
              <a:rPr lang="en" altLang="ko-KR" sz="14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CB71A7A8-178B-AF75-2C8B-EA0820F64A64}"/>
              </a:ext>
            </a:extLst>
          </p:cNvPr>
          <p:cNvSpPr/>
          <p:nvPr/>
        </p:nvSpPr>
        <p:spPr>
          <a:xfrm>
            <a:off x="4384800" y="2520000"/>
            <a:ext cx="3420000" cy="3420000"/>
          </a:xfrm>
          <a:prstGeom prst="rect">
            <a:avLst/>
          </a:prstGeom>
          <a:solidFill>
            <a:srgbClr val="F2F5FA"/>
          </a:solidFill>
          <a:ln>
            <a:solidFill>
              <a:schemeClr val="bg2"/>
            </a:solidFill>
          </a:ln>
          <a:effectLst>
            <a:outerShdw blurRad="101600" dist="38100" dir="81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1AFBD7-A92E-7ED5-3311-B3DBCDD3D651}"/>
              </a:ext>
            </a:extLst>
          </p:cNvPr>
          <p:cNvSpPr txBox="1"/>
          <p:nvPr/>
        </p:nvSpPr>
        <p:spPr>
          <a:xfrm>
            <a:off x="4474800" y="2684611"/>
            <a:ext cx="324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" altLang="ko-KR" sz="14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Action Space </a:t>
            </a:r>
            <a:r>
              <a:rPr lang="ko-KR" altLang="en-US" sz="14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구성</a:t>
            </a:r>
            <a:endParaRPr lang="en" altLang="ko-KR" sz="1400" b="1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7B728DAD-A6F4-D394-2BFE-8D52FA82F668}"/>
              </a:ext>
            </a:extLst>
          </p:cNvPr>
          <p:cNvSpPr/>
          <p:nvPr/>
        </p:nvSpPr>
        <p:spPr>
          <a:xfrm>
            <a:off x="8229600" y="2520000"/>
            <a:ext cx="3420000" cy="3420000"/>
          </a:xfrm>
          <a:prstGeom prst="rect">
            <a:avLst/>
          </a:prstGeom>
          <a:solidFill>
            <a:srgbClr val="F2F5FA"/>
          </a:solidFill>
          <a:ln>
            <a:solidFill>
              <a:schemeClr val="bg2"/>
            </a:solidFill>
          </a:ln>
          <a:effectLst>
            <a:outerShdw blurRad="101600" dist="38100" dir="81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D99DFC-8742-0327-065A-31C859E5812E}"/>
              </a:ext>
            </a:extLst>
          </p:cNvPr>
          <p:cNvSpPr txBox="1"/>
          <p:nvPr/>
        </p:nvSpPr>
        <p:spPr>
          <a:xfrm>
            <a:off x="8337600" y="2684611"/>
            <a:ext cx="324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14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탐색 방법</a:t>
            </a:r>
            <a:endParaRPr lang="en" altLang="ko-KR" sz="1400" b="1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DFC20D-458D-2AE3-8ECF-B5F2752625D5}"/>
              </a:ext>
            </a:extLst>
          </p:cNvPr>
          <p:cNvSpPr txBox="1"/>
          <p:nvPr/>
        </p:nvSpPr>
        <p:spPr>
          <a:xfrm>
            <a:off x="4474800" y="3239999"/>
            <a:ext cx="3240000" cy="172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에이전트의 행동 집합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Action ∈ {0, 1, 2, ..., 9}</a:t>
            </a:r>
          </a:p>
          <a:p>
            <a:pPr>
              <a:lnSpc>
                <a:spcPct val="150000"/>
              </a:lnSpc>
            </a:pP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action k → </a:t>
            </a:r>
            <a:r>
              <a:rPr lang="en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neighbor_map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[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현재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][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k]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로 이동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Q-Network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출력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: 10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 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Q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값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argmax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로 최적 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action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endParaRPr sz="1200" b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99A69C-3F9D-DF28-9493-519DE03C6E14}"/>
              </a:ext>
            </a:extLst>
          </p:cNvPr>
          <p:cNvSpPr txBox="1"/>
          <p:nvPr/>
        </p:nvSpPr>
        <p:spPr>
          <a:xfrm>
            <a:off x="630000" y="3239999"/>
            <a:ext cx="3240000" cy="172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각 분자 </a:t>
            </a:r>
            <a:r>
              <a:rPr lang="en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i</a:t>
            </a:r>
            <a:r>
              <a:rPr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에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대해 초기화 시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회 수행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20,000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 중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300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 랜덤 샘플링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각 후보와 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Tanimoto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유사도 계산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상위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 인덱스 저장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neighbor_map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[</a:t>
            </a:r>
            <a:r>
              <a:rPr lang="en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i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] = [idx0, idx1, ..., idx9]</a:t>
            </a:r>
          </a:p>
          <a:p>
            <a:pPr>
              <a:lnSpc>
                <a:spcPct val="150000"/>
              </a:lnSpc>
            </a:pP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학습 중 매 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step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조회만 함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연산 비용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0)</a:t>
            </a:r>
            <a:endParaRPr sz="1200" b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AAFD00-29D0-C94B-9AC6-EB0BF40F5166}"/>
              </a:ext>
            </a:extLst>
          </p:cNvPr>
          <p:cNvSpPr txBox="1"/>
          <p:nvPr/>
        </p:nvSpPr>
        <p:spPr>
          <a:xfrm>
            <a:off x="8319600" y="3239999"/>
            <a:ext cx="3240000" cy="116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무작위 시작 분자에서 출발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매 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step Q-Network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로 이동 결정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목표 범위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(2~3 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D)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최대한 자주 도달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50 </a:t>
            </a:r>
            <a:r>
              <a:rPr lang="en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step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후 에피소드 종료</a:t>
            </a:r>
            <a:endParaRPr sz="1200" b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1C305F-74CD-94EF-18B9-F73AB8693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pPr/>
              <a:t>7</a:t>
            </a:fld>
            <a:endParaRPr kumimoji="1" lang="ko-KR" altLang="en-US" sz="40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0000" y="1260000"/>
            <a:ext cx="1296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State</a:t>
            </a:r>
            <a:endParaRPr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160000" y="1260000"/>
            <a:ext cx="9489600" cy="900000"/>
          </a:xfrm>
          <a:prstGeom prst="rect">
            <a:avLst/>
          </a:prstGeom>
          <a:solidFill>
            <a:srgbClr val="F2F5FA"/>
          </a:solidFill>
          <a:ln w="12700">
            <a:solidFill>
              <a:schemeClr val="bg2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현재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분자의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2048-bit Morgan Fingerprint</a:t>
            </a:r>
            <a:endParaRPr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→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에이전트가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'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지금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어떤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구조에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있는지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'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인식하는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유일한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정보</a:t>
            </a:r>
            <a:endParaRPr lang="ko-KR" alt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0000" y="2430000"/>
            <a:ext cx="1296000" cy="90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Action</a:t>
            </a:r>
            <a:endParaRPr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160000" y="2430000"/>
            <a:ext cx="9489600" cy="900000"/>
          </a:xfrm>
          <a:prstGeom prst="rect">
            <a:avLst/>
          </a:prstGeom>
          <a:solidFill>
            <a:srgbClr val="F2F5FA"/>
          </a:solidFill>
          <a:ln w="12700">
            <a:solidFill>
              <a:schemeClr val="bg2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현재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분자와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유사한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이웃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10개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중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하나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선택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 ( Action ∈ {0, 1, ..., 9} )</a:t>
            </a:r>
            <a:endParaRPr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→ Tanimoto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기반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상위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10개를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에피소드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시작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전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사전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계산</a:t>
            </a:r>
            <a:endParaRPr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0000" y="3600000"/>
            <a:ext cx="1296000" cy="90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Reward</a:t>
            </a:r>
            <a:endParaRPr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160000" y="3600000"/>
            <a:ext cx="9489600" cy="900000"/>
          </a:xfrm>
          <a:prstGeom prst="rect">
            <a:avLst/>
          </a:prstGeom>
          <a:solidFill>
            <a:srgbClr val="F2F5FA"/>
          </a:solidFill>
          <a:ln w="12700">
            <a:solidFill>
              <a:schemeClr val="bg2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목표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중심값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2.5 Debye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기준</a:t>
            </a:r>
            <a:endParaRPr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범위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안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(2~3 D):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최대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+1.0  (2.5에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가까울수록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높음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)</a:t>
            </a:r>
            <a:endParaRPr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범위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밖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: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거리에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비례한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패널티</a:t>
            </a:r>
            <a:endParaRPr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0000" y="4770000"/>
            <a:ext cx="1296000" cy="90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Episode</a:t>
            </a:r>
            <a:endParaRPr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160000" y="4770000"/>
            <a:ext cx="9489600" cy="900000"/>
          </a:xfrm>
          <a:prstGeom prst="rect">
            <a:avLst/>
          </a:prstGeom>
          <a:solidFill>
            <a:srgbClr val="F2F5FA"/>
          </a:solidFill>
          <a:ln w="12700">
            <a:solidFill>
              <a:schemeClr val="bg2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최대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50 Step  / 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매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에피소드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시작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분자</a:t>
            </a:r>
            <a:r>
              <a:rPr lang="ko-KR" altLang="en-US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를</a:t>
            </a:r>
            <a:r>
              <a:rPr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랜덤으로 선택</a:t>
            </a:r>
            <a:endParaRPr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→ 50번의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이동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안에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목표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범위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(2~3 Debye)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에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최대한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자주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도달하는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것이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목표</a:t>
            </a:r>
            <a:endParaRPr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0000" y="5940000"/>
            <a:ext cx="11109600" cy="360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/>
          <a:lstStyle/>
          <a:p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사전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계산된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이웃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맵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(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neighbor_map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) →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학습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중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step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연산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비용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제로</a:t>
            </a:r>
            <a:endParaRPr lang="en-US" altLang="ko-KR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제목 22">
            <a:extLst>
              <a:ext uri="{FF2B5EF4-FFF2-40B4-BE49-F238E27FC236}">
                <a16:creationId xmlns:a16="http://schemas.microsoft.com/office/drawing/2014/main" id="{7E7CBFE5-DA58-3F5C-B6BD-9C729D93E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cs typeface="Malgun Gothic" pitchFamily="34" charset="-120"/>
              </a:rPr>
              <a:t>강화학습</a:t>
            </a:r>
            <a:r>
              <a:rPr lang="en-US" altLang="ko-KR" dirty="0">
                <a:cs typeface="Malgun Gothic" pitchFamily="34" charset="-120"/>
              </a:rPr>
              <a:t> </a:t>
            </a:r>
            <a:r>
              <a:rPr lang="en-US" altLang="ko-KR" dirty="0" err="1">
                <a:cs typeface="Malgun Gothic" pitchFamily="34" charset="-120"/>
              </a:rPr>
              <a:t>환경</a:t>
            </a:r>
            <a:r>
              <a:rPr lang="en-US" altLang="ko-KR" dirty="0">
                <a:cs typeface="Malgun Gothic" pitchFamily="34" charset="-120"/>
              </a:rPr>
              <a:t> </a:t>
            </a:r>
            <a:r>
              <a:rPr lang="en-US" altLang="ko-KR" dirty="0" err="1">
                <a:cs typeface="Malgun Gothic" pitchFamily="34" charset="-120"/>
              </a:rPr>
              <a:t>설계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CCED070-6B7F-F537-5741-5B9BEE65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pPr/>
              <a:t>8</a:t>
            </a:fld>
            <a:endParaRPr kumimoji="1" lang="ko-KR" altLang="en-US" sz="40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0000" y="1260000"/>
            <a:ext cx="4680000" cy="4860000"/>
          </a:xfrm>
          <a:prstGeom prst="rect">
            <a:avLst/>
          </a:prstGeom>
          <a:solidFill>
            <a:srgbClr val="F2F5FA"/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0000" y="1368000"/>
            <a:ext cx="432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DQN인가?</a:t>
            </a:r>
            <a:endParaRPr lang="en-US" sz="1400" dirty="0">
              <a:solidFill>
                <a:srgbClr val="1A56DB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20000" y="1980000"/>
            <a:ext cx="4320000" cy="32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2048차원의 고차원 </a:t>
            </a:r>
            <a:r>
              <a:rPr lang="en-US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Fingerprint로</a:t>
            </a: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구성</a:t>
            </a:r>
            <a:r>
              <a:rPr lang="ko-KR" alt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된 </a:t>
            </a: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state </a:t>
            </a:r>
          </a:p>
          <a:p>
            <a:pPr>
              <a:lnSpc>
                <a:spcPct val="150000"/>
              </a:lnSpc>
            </a:pPr>
            <a:r>
              <a:rPr lang="en-US" altLang="ko-KR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→  </a:t>
            </a: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Q-table 기반 </a:t>
            </a:r>
            <a:r>
              <a:rPr lang="en-US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접근이</a:t>
            </a: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불가능</a:t>
            </a: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상태-행동</a:t>
            </a: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가치를 </a:t>
            </a:r>
            <a:r>
              <a:rPr lang="en-US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신경망으로</a:t>
            </a: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근사하는</a:t>
            </a: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Deep Q-Network(DQN)</a:t>
            </a:r>
            <a:r>
              <a:rPr lang="en-US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를</a:t>
            </a: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sz="13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사용</a:t>
            </a: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.</a:t>
            </a: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학습</a:t>
            </a:r>
            <a:r>
              <a:rPr lang="en-US" sz="13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sz="13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안정화</a:t>
            </a:r>
            <a:r>
              <a:rPr lang="en-US" sz="13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ko-KR" altLang="en-US" sz="13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방법</a:t>
            </a:r>
            <a:endParaRPr lang="en-US" sz="13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Experience Replay Buffer (10,000)</a:t>
            </a: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Target Network (10 ep 주기 업데이트)</a:t>
            </a: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Epsilon-Greedy 탐색 (1.0 → 0.05)</a:t>
            </a: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529600" y="1260000"/>
            <a:ext cx="6120000" cy="4860000"/>
          </a:xfrm>
          <a:prstGeom prst="rect">
            <a:avLst/>
          </a:prstGeom>
          <a:solidFill>
            <a:srgbClr val="F2F5FA"/>
          </a:solidFill>
          <a:ln w="12700">
            <a:solidFill>
              <a:schemeClr val="bg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709600" y="1386288"/>
            <a:ext cx="360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b="1" dirty="0" err="1">
                <a:solidFill>
                  <a:srgbClr val="1A5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</a:t>
            </a:r>
            <a:r>
              <a:rPr lang="en-US" altLang="ko-KR" sz="1400" b="1" dirty="0">
                <a:solidFill>
                  <a:srgbClr val="1A5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b="1" dirty="0" err="1">
                <a:solidFill>
                  <a:srgbClr val="1A5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lang="en-US" altLang="ko-KR" sz="1400" b="1" dirty="0">
                <a:solidFill>
                  <a:srgbClr val="1A5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&amp; </a:t>
            </a:r>
            <a:r>
              <a:rPr lang="en-US" altLang="ko-KR" sz="1400" b="1" dirty="0" err="1">
                <a:solidFill>
                  <a:srgbClr val="1A5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하이퍼파라미터</a:t>
            </a:r>
            <a:endParaRPr lang="en-US" altLang="ko-KR" sz="1400" dirty="0"/>
          </a:p>
        </p:txBody>
      </p:sp>
      <p:sp>
        <p:nvSpPr>
          <p:cNvPr id="39" name="제목 38">
            <a:extLst>
              <a:ext uri="{FF2B5EF4-FFF2-40B4-BE49-F238E27FC236}">
                <a16:creationId xmlns:a16="http://schemas.microsoft.com/office/drawing/2014/main" id="{528CB335-72D3-09C7-D325-734924DE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cs typeface="Malgun Gothic" pitchFamily="34" charset="-120"/>
              </a:rPr>
              <a:t>DQN </a:t>
            </a:r>
            <a:r>
              <a:rPr lang="en-US" altLang="ko-KR" dirty="0" err="1">
                <a:cs typeface="Malgun Gothic" pitchFamily="34" charset="-120"/>
              </a:rPr>
              <a:t>적용</a:t>
            </a:r>
            <a:endParaRPr lang="ko-KR" altLang="en-US" dirty="0"/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25AF789F-51AF-84AE-AA49-9992F63C3909}"/>
              </a:ext>
            </a:extLst>
          </p:cNvPr>
          <p:cNvSpPr/>
          <p:nvPr/>
        </p:nvSpPr>
        <p:spPr>
          <a:xfrm>
            <a:off x="5709600" y="1951776"/>
            <a:ext cx="1143000" cy="1188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200" b="1" dirty="0" err="1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입력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2048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5A37AE7-09C9-DB9D-C2B1-ACC22D30AA88}"/>
              </a:ext>
            </a:extLst>
          </p:cNvPr>
          <p:cNvSpPr/>
          <p:nvPr/>
        </p:nvSpPr>
        <p:spPr>
          <a:xfrm>
            <a:off x="7249400" y="1951776"/>
            <a:ext cx="1143000" cy="118872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1A56D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FC 256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+</a:t>
            </a:r>
            <a:r>
              <a:rPr lang="en-US" altLang="ko-KR" sz="1200" b="1" dirty="0" err="1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ReLU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E4D0D86E-FBD9-E652-9F09-C4EE1F72AB25}"/>
              </a:ext>
            </a:extLst>
          </p:cNvPr>
          <p:cNvSpPr/>
          <p:nvPr/>
        </p:nvSpPr>
        <p:spPr>
          <a:xfrm>
            <a:off x="8789200" y="1951776"/>
            <a:ext cx="1143000" cy="118872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1A56D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FC 128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+</a:t>
            </a:r>
            <a:r>
              <a:rPr lang="en-US" altLang="ko-KR" sz="1200" b="1" dirty="0" err="1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ReLU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7D75AFFF-975E-90A6-AEDB-2B37E965DDD3}"/>
              </a:ext>
            </a:extLst>
          </p:cNvPr>
          <p:cNvSpPr/>
          <p:nvPr/>
        </p:nvSpPr>
        <p:spPr>
          <a:xfrm>
            <a:off x="10329000" y="1951776"/>
            <a:ext cx="1143000" cy="118872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05966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200" b="1" dirty="0" err="1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출력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10(</a:t>
            </a:r>
            <a:r>
              <a:rPr lang="en-US" altLang="ko-KR" sz="1200" b="1" dirty="0" err="1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Q값</a:t>
            </a:r>
            <a:r>
              <a:rPr lang="en-US" altLang="ko-KR" sz="1200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)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2A1412F9-5872-4682-3C36-109FAAC71281}"/>
              </a:ext>
            </a:extLst>
          </p:cNvPr>
          <p:cNvSpPr/>
          <p:nvPr/>
        </p:nvSpPr>
        <p:spPr>
          <a:xfrm>
            <a:off x="5709600" y="3323376"/>
            <a:ext cx="5760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5C85836F-306E-8DE1-026B-BD4F4CFFFC35}"/>
              </a:ext>
            </a:extLst>
          </p:cNvPr>
          <p:cNvSpPr/>
          <p:nvPr/>
        </p:nvSpPr>
        <p:spPr>
          <a:xfrm>
            <a:off x="5970330" y="3378240"/>
            <a:ext cx="180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Episodes</a:t>
            </a:r>
            <a:endParaRPr lang="en-US" sz="1150" dirty="0"/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DE4595ED-0978-7E13-5E02-966C398576FA}"/>
              </a:ext>
            </a:extLst>
          </p:cNvPr>
          <p:cNvSpPr/>
          <p:nvPr/>
        </p:nvSpPr>
        <p:spPr>
          <a:xfrm>
            <a:off x="9034806" y="3378240"/>
            <a:ext cx="216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A5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</a:t>
            </a:r>
            <a:endParaRPr lang="en-US" sz="1150" dirty="0"/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3C3807A9-64C9-80FE-8AA8-6226F9DCAB02}"/>
              </a:ext>
            </a:extLst>
          </p:cNvPr>
          <p:cNvSpPr/>
          <p:nvPr/>
        </p:nvSpPr>
        <p:spPr>
          <a:xfrm>
            <a:off x="5709600" y="3762288"/>
            <a:ext cx="57600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7ECE9330-FD28-4231-9E86-B7F5EDE77335}"/>
              </a:ext>
            </a:extLst>
          </p:cNvPr>
          <p:cNvSpPr/>
          <p:nvPr/>
        </p:nvSpPr>
        <p:spPr>
          <a:xfrm>
            <a:off x="5970330" y="3817152"/>
            <a:ext cx="180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 Steps</a:t>
            </a:r>
            <a:endParaRPr lang="en-US" sz="1150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4A78BF18-F9C6-E66C-E346-19E3338A169F}"/>
              </a:ext>
            </a:extLst>
          </p:cNvPr>
          <p:cNvSpPr/>
          <p:nvPr/>
        </p:nvSpPr>
        <p:spPr>
          <a:xfrm>
            <a:off x="9034806" y="3817152"/>
            <a:ext cx="216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A5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150" dirty="0"/>
          </a:p>
        </p:txBody>
      </p:sp>
      <p:sp>
        <p:nvSpPr>
          <p:cNvPr id="56" name="Shape 24">
            <a:extLst>
              <a:ext uri="{FF2B5EF4-FFF2-40B4-BE49-F238E27FC236}">
                <a16:creationId xmlns:a16="http://schemas.microsoft.com/office/drawing/2014/main" id="{A3B5659D-4AE1-0CFF-DB03-7DE9B60636AF}"/>
              </a:ext>
            </a:extLst>
          </p:cNvPr>
          <p:cNvSpPr/>
          <p:nvPr/>
        </p:nvSpPr>
        <p:spPr>
          <a:xfrm>
            <a:off x="5709600" y="4201200"/>
            <a:ext cx="5760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B223D64A-71A8-E419-B297-230C67494E4C}"/>
              </a:ext>
            </a:extLst>
          </p:cNvPr>
          <p:cNvSpPr/>
          <p:nvPr/>
        </p:nvSpPr>
        <p:spPr>
          <a:xfrm>
            <a:off x="5970330" y="4256064"/>
            <a:ext cx="180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 Size</a:t>
            </a:r>
            <a:endParaRPr lang="en-US" sz="1150" dirty="0"/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01AE579D-B711-B3FE-FF02-899B30414AFA}"/>
              </a:ext>
            </a:extLst>
          </p:cNvPr>
          <p:cNvSpPr/>
          <p:nvPr/>
        </p:nvSpPr>
        <p:spPr>
          <a:xfrm>
            <a:off x="9034806" y="4256064"/>
            <a:ext cx="216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A5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1150" dirty="0"/>
          </a:p>
        </p:txBody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0D5DE122-18EA-C88C-7A41-C26B497FE98B}"/>
              </a:ext>
            </a:extLst>
          </p:cNvPr>
          <p:cNvSpPr/>
          <p:nvPr/>
        </p:nvSpPr>
        <p:spPr>
          <a:xfrm>
            <a:off x="5709600" y="4640112"/>
            <a:ext cx="57600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48FFDC13-F361-C08F-13AC-6590C41045B7}"/>
              </a:ext>
            </a:extLst>
          </p:cNvPr>
          <p:cNvSpPr/>
          <p:nvPr/>
        </p:nvSpPr>
        <p:spPr>
          <a:xfrm>
            <a:off x="5970330" y="4694976"/>
            <a:ext cx="180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Learning Rate</a:t>
            </a:r>
            <a:endParaRPr lang="en-US" sz="1150" dirty="0"/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AD1DB3ED-31FC-142F-24C0-44A97306F77D}"/>
              </a:ext>
            </a:extLst>
          </p:cNvPr>
          <p:cNvSpPr/>
          <p:nvPr/>
        </p:nvSpPr>
        <p:spPr>
          <a:xfrm>
            <a:off x="9034806" y="4694976"/>
            <a:ext cx="216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A5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0.0005</a:t>
            </a:r>
            <a:endParaRPr lang="en-US" sz="1150" dirty="0"/>
          </a:p>
        </p:txBody>
      </p:sp>
      <p:sp>
        <p:nvSpPr>
          <p:cNvPr id="62" name="Shape 30">
            <a:extLst>
              <a:ext uri="{FF2B5EF4-FFF2-40B4-BE49-F238E27FC236}">
                <a16:creationId xmlns:a16="http://schemas.microsoft.com/office/drawing/2014/main" id="{E0B584A6-D7A3-E4A6-C00C-2C4389653DFD}"/>
              </a:ext>
            </a:extLst>
          </p:cNvPr>
          <p:cNvSpPr/>
          <p:nvPr/>
        </p:nvSpPr>
        <p:spPr>
          <a:xfrm>
            <a:off x="5709600" y="5079024"/>
            <a:ext cx="5760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31">
            <a:extLst>
              <a:ext uri="{FF2B5EF4-FFF2-40B4-BE49-F238E27FC236}">
                <a16:creationId xmlns:a16="http://schemas.microsoft.com/office/drawing/2014/main" id="{B1CECE12-9522-B874-043E-BDD63816D347}"/>
              </a:ext>
            </a:extLst>
          </p:cNvPr>
          <p:cNvSpPr/>
          <p:nvPr/>
        </p:nvSpPr>
        <p:spPr>
          <a:xfrm>
            <a:off x="5970330" y="5133888"/>
            <a:ext cx="180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 (γ)</a:t>
            </a:r>
            <a:endParaRPr lang="en-US" sz="1150" dirty="0"/>
          </a:p>
        </p:txBody>
      </p:sp>
      <p:sp>
        <p:nvSpPr>
          <p:cNvPr id="64" name="Text 32">
            <a:extLst>
              <a:ext uri="{FF2B5EF4-FFF2-40B4-BE49-F238E27FC236}">
                <a16:creationId xmlns:a16="http://schemas.microsoft.com/office/drawing/2014/main" id="{01E33777-5E56-461A-341D-4A0E798F1255}"/>
              </a:ext>
            </a:extLst>
          </p:cNvPr>
          <p:cNvSpPr/>
          <p:nvPr/>
        </p:nvSpPr>
        <p:spPr>
          <a:xfrm>
            <a:off x="9034806" y="5133888"/>
            <a:ext cx="216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A5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0.99</a:t>
            </a:r>
            <a:endParaRPr lang="en-US" sz="1150" dirty="0"/>
          </a:p>
        </p:txBody>
      </p:sp>
      <p:sp>
        <p:nvSpPr>
          <p:cNvPr id="65" name="Shape 33">
            <a:extLst>
              <a:ext uri="{FF2B5EF4-FFF2-40B4-BE49-F238E27FC236}">
                <a16:creationId xmlns:a16="http://schemas.microsoft.com/office/drawing/2014/main" id="{B51CD406-E2EC-4F16-B3B2-A0E3945FE0BA}"/>
              </a:ext>
            </a:extLst>
          </p:cNvPr>
          <p:cNvSpPr/>
          <p:nvPr/>
        </p:nvSpPr>
        <p:spPr>
          <a:xfrm>
            <a:off x="5709600" y="5517936"/>
            <a:ext cx="57600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34">
            <a:extLst>
              <a:ext uri="{FF2B5EF4-FFF2-40B4-BE49-F238E27FC236}">
                <a16:creationId xmlns:a16="http://schemas.microsoft.com/office/drawing/2014/main" id="{442D2180-4586-C0D4-CC31-2FEECC5D4FF5}"/>
              </a:ext>
            </a:extLst>
          </p:cNvPr>
          <p:cNvSpPr/>
          <p:nvPr/>
        </p:nvSpPr>
        <p:spPr>
          <a:xfrm>
            <a:off x="5970330" y="5572800"/>
            <a:ext cx="180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 Decay</a:t>
            </a:r>
            <a:endParaRPr lang="en-US" sz="1150" dirty="0"/>
          </a:p>
        </p:txBody>
      </p:sp>
      <p:sp>
        <p:nvSpPr>
          <p:cNvPr id="67" name="Text 35">
            <a:extLst>
              <a:ext uri="{FF2B5EF4-FFF2-40B4-BE49-F238E27FC236}">
                <a16:creationId xmlns:a16="http://schemas.microsoft.com/office/drawing/2014/main" id="{0B0595A4-41AB-C88C-27F8-8D8E644E615D}"/>
              </a:ext>
            </a:extLst>
          </p:cNvPr>
          <p:cNvSpPr/>
          <p:nvPr/>
        </p:nvSpPr>
        <p:spPr>
          <a:xfrm>
            <a:off x="9034806" y="5572800"/>
            <a:ext cx="216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A56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0.995/ep</a:t>
            </a:r>
            <a:endParaRPr lang="en-US" sz="1150" dirty="0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257CEFC5-77F9-E917-7A84-641C65B6548B}"/>
              </a:ext>
            </a:extLst>
          </p:cNvPr>
          <p:cNvCxnSpPr>
            <a:cxnSpLocks/>
          </p:cNvCxnSpPr>
          <p:nvPr/>
        </p:nvCxnSpPr>
        <p:spPr>
          <a:xfrm>
            <a:off x="6871000" y="2546136"/>
            <a:ext cx="360000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7CE5ED96-8B89-FF74-0693-54564CE55C38}"/>
              </a:ext>
            </a:extLst>
          </p:cNvPr>
          <p:cNvCxnSpPr>
            <a:cxnSpLocks/>
          </p:cNvCxnSpPr>
          <p:nvPr/>
        </p:nvCxnSpPr>
        <p:spPr>
          <a:xfrm>
            <a:off x="8410800" y="2546136"/>
            <a:ext cx="360000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94C5D711-A773-6C6B-1432-85A78A41A73E}"/>
              </a:ext>
            </a:extLst>
          </p:cNvPr>
          <p:cNvCxnSpPr>
            <a:cxnSpLocks/>
          </p:cNvCxnSpPr>
          <p:nvPr/>
        </p:nvCxnSpPr>
        <p:spPr>
          <a:xfrm>
            <a:off x="9950600" y="2546136"/>
            <a:ext cx="360000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슬라이드 번호 개체 틀 71">
            <a:extLst>
              <a:ext uri="{FF2B5EF4-FFF2-40B4-BE49-F238E27FC236}">
                <a16:creationId xmlns:a16="http://schemas.microsoft.com/office/drawing/2014/main" id="{06B0236F-EB29-EB8C-70C5-3B8F1F3CF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pPr/>
              <a:t>9</a:t>
            </a:fld>
            <a:endParaRPr kumimoji="1" lang="ko-KR" altLang="en-US" sz="40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0624" y="1152000"/>
            <a:ext cx="11320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학습 과정에서 Reward와 Target Hit Count가 </a:t>
            </a:r>
            <a:r>
              <a:rPr lang="en-US" sz="12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지속적으로</a:t>
            </a:r>
            <a:r>
              <a:rPr lang="en-US" sz="12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sz="12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증가</a:t>
            </a:r>
            <a:r>
              <a:rPr lang="en-US" sz="12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.</a:t>
            </a:r>
            <a:endParaRPr lang="en-US" sz="1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F60509F-1EF9-8098-8D0D-0AB72EC228CE}"/>
              </a:ext>
            </a:extLst>
          </p:cNvPr>
          <p:cNvGrpSpPr/>
          <p:nvPr/>
        </p:nvGrpSpPr>
        <p:grpSpPr>
          <a:xfrm>
            <a:off x="540000" y="5283747"/>
            <a:ext cx="11109600" cy="402336"/>
            <a:chOff x="540000" y="5283747"/>
            <a:chExt cx="11109600" cy="402336"/>
          </a:xfrm>
        </p:grpSpPr>
        <p:sp>
          <p:nvSpPr>
            <p:cNvPr id="7" name="Shape 5"/>
            <p:cNvSpPr/>
            <p:nvPr/>
          </p:nvSpPr>
          <p:spPr>
            <a:xfrm>
              <a:off x="540000" y="5283747"/>
              <a:ext cx="11109600" cy="402336"/>
            </a:xfrm>
            <a:prstGeom prst="rect">
              <a:avLst/>
            </a:prstGeom>
            <a:solidFill>
              <a:srgbClr val="F2F5FA"/>
            </a:solidFill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762864" y="5324895"/>
              <a:ext cx="21600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초반 (ep 1~100)</a:t>
              </a:r>
              <a:endPara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3517588" y="5324895"/>
              <a:ext cx="72000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Target Hits 11~17, Reward 음수 다수 → epsilon 높아 랜덤 탐색 단계</a:t>
              </a:r>
              <a:endParaRPr lang="en-US" sz="12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E5347B4-336C-F2F9-A9AE-C389404B2174}"/>
              </a:ext>
            </a:extLst>
          </p:cNvPr>
          <p:cNvGrpSpPr/>
          <p:nvPr/>
        </p:nvGrpSpPr>
        <p:grpSpPr>
          <a:xfrm>
            <a:off x="540000" y="5778018"/>
            <a:ext cx="11109600" cy="402336"/>
            <a:chOff x="540000" y="5740947"/>
            <a:chExt cx="11109600" cy="402336"/>
          </a:xfrm>
        </p:grpSpPr>
        <p:sp>
          <p:nvSpPr>
            <p:cNvPr id="10" name="Shape 8"/>
            <p:cNvSpPr/>
            <p:nvPr/>
          </p:nvSpPr>
          <p:spPr>
            <a:xfrm>
              <a:off x="540000" y="5740947"/>
              <a:ext cx="11109600" cy="402336"/>
            </a:xfrm>
            <a:prstGeom prst="rect">
              <a:avLst/>
            </a:prstGeom>
            <a:solidFill>
              <a:srgbClr val="F2F5FA"/>
            </a:solidFill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762864" y="5782095"/>
              <a:ext cx="21600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56DB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후반 (ep 400~500)</a:t>
              </a:r>
              <a:endPara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517588" y="5782095"/>
              <a:ext cx="72000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Target Hits 25~31, Reward 양수 증가 → 목표 영역 탐색 정책 확립</a:t>
              </a:r>
              <a:endParaRPr lang="en-US" sz="12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4" name="제목 13">
            <a:extLst>
              <a:ext uri="{FF2B5EF4-FFF2-40B4-BE49-F238E27FC236}">
                <a16:creationId xmlns:a16="http://schemas.microsoft.com/office/drawing/2014/main" id="{4EEE8D06-D633-1CEF-5336-AC38E01A3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cs typeface="Malgun Gothic" pitchFamily="34" charset="-120"/>
              </a:rPr>
              <a:t>학습 적중률 향상 추세</a:t>
            </a:r>
            <a:endParaRPr lang="ko-KR" altLang="en-US" dirty="0"/>
          </a:p>
        </p:txBody>
      </p:sp>
      <p:pic>
        <p:nvPicPr>
          <p:cNvPr id="15" name="Image 0" descr="/mnt/user-data/uploads/training_metrics.png">
            <a:extLst>
              <a:ext uri="{FF2B5EF4-FFF2-40B4-BE49-F238E27FC236}">
                <a16:creationId xmlns:a16="http://schemas.microsoft.com/office/drawing/2014/main" id="{29C4EEA9-9EF4-296D-0C26-5C8BD4C83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10" y="1775665"/>
            <a:ext cx="10555580" cy="3240000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AFC0F2EE-AA8B-8F82-93F8-048AD0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pPr/>
              <a:t>10</a:t>
            </a:fld>
            <a:endParaRPr kumimoji="1" lang="ko-KR" altLang="en-US" sz="40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E5B05-F782-1CE6-7DFA-69AA11A8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cs typeface="Malgun Gothic" pitchFamily="34" charset="-120"/>
              </a:rPr>
              <a:t>알고리즘별</a:t>
            </a:r>
            <a:r>
              <a:rPr lang="en-US" altLang="ko-KR" dirty="0">
                <a:cs typeface="Malgun Gothic" pitchFamily="34" charset="-120"/>
              </a:rPr>
              <a:t> </a:t>
            </a:r>
            <a:r>
              <a:rPr lang="en-US" altLang="ko-KR" dirty="0" err="1">
                <a:cs typeface="Malgun Gothic" pitchFamily="34" charset="-120"/>
              </a:rPr>
              <a:t>성과</a:t>
            </a:r>
            <a:r>
              <a:rPr lang="en-US" altLang="ko-KR" dirty="0">
                <a:cs typeface="Malgun Gothic" pitchFamily="34" charset="-120"/>
              </a:rPr>
              <a:t> </a:t>
            </a:r>
            <a:r>
              <a:rPr lang="en-US" altLang="ko-KR" dirty="0" err="1">
                <a:cs typeface="Malgun Gothic" pitchFamily="34" charset="-120"/>
              </a:rPr>
              <a:t>분석</a:t>
            </a:r>
            <a:endParaRPr kumimoji="1"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1726ADB-DB3E-C4CF-8CB1-C483286807E8}"/>
              </a:ext>
            </a:extLst>
          </p:cNvPr>
          <p:cNvGrpSpPr/>
          <p:nvPr/>
        </p:nvGrpSpPr>
        <p:grpSpPr>
          <a:xfrm>
            <a:off x="360047" y="1645920"/>
            <a:ext cx="11289553" cy="720000"/>
            <a:chOff x="360047" y="1645920"/>
            <a:chExt cx="11289553" cy="720000"/>
          </a:xfrm>
        </p:grpSpPr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F063DD13-F3D3-1CED-D2DE-E0DC0A7E84C6}"/>
                </a:ext>
              </a:extLst>
            </p:cNvPr>
            <p:cNvSpPr/>
            <p:nvPr/>
          </p:nvSpPr>
          <p:spPr>
            <a:xfrm>
              <a:off x="360047" y="1731600"/>
              <a:ext cx="16459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b="1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Random Search</a:t>
              </a:r>
              <a:endParaRPr lang="en-US" sz="1200" b="1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2981E0E4-A5AC-873C-8AA3-EF7790A1EB55}"/>
                </a:ext>
              </a:extLst>
            </p:cNvPr>
            <p:cNvSpPr/>
            <p:nvPr/>
          </p:nvSpPr>
          <p:spPr>
            <a:xfrm>
              <a:off x="2109600" y="1645920"/>
              <a:ext cx="9540000" cy="7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E115989A-FF1A-5040-210A-9D4871480780}"/>
                </a:ext>
              </a:extLst>
            </p:cNvPr>
            <p:cNvSpPr/>
            <p:nvPr/>
          </p:nvSpPr>
          <p:spPr>
            <a:xfrm>
              <a:off x="2109600" y="1645920"/>
              <a:ext cx="2336400" cy="72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DF29FB0D-1981-E037-96D8-1A1D21892CA9}"/>
                </a:ext>
              </a:extLst>
            </p:cNvPr>
            <p:cNvSpPr/>
            <p:nvPr/>
          </p:nvSpPr>
          <p:spPr>
            <a:xfrm>
              <a:off x="2106000" y="1754460"/>
              <a:ext cx="2340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chemeClr val="tx1">
                      <a:lumMod val="8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24.5%</a:t>
              </a:r>
              <a:endParaRPr lang="en-US" sz="1400" dirty="0">
                <a:solidFill>
                  <a:schemeClr val="tx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7980117-BBCF-9254-BE80-3FB68E6C2AB1}"/>
              </a:ext>
            </a:extLst>
          </p:cNvPr>
          <p:cNvGrpSpPr/>
          <p:nvPr/>
        </p:nvGrpSpPr>
        <p:grpSpPr>
          <a:xfrm>
            <a:off x="360047" y="3037521"/>
            <a:ext cx="11289553" cy="720000"/>
            <a:chOff x="360047" y="3231306"/>
            <a:chExt cx="11289553" cy="720000"/>
          </a:xfrm>
        </p:grpSpPr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8C98E51C-3D1E-F53A-2865-BE5318B20BFC}"/>
                </a:ext>
              </a:extLst>
            </p:cNvPr>
            <p:cNvSpPr/>
            <p:nvPr/>
          </p:nvSpPr>
          <p:spPr>
            <a:xfrm>
              <a:off x="360047" y="3316986"/>
              <a:ext cx="16459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b="1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DQN Agent</a:t>
              </a:r>
              <a:endParaRPr lang="en-US" sz="1200" b="1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10894492-5A29-4026-5813-9B1C28E1463D}"/>
                </a:ext>
              </a:extLst>
            </p:cNvPr>
            <p:cNvSpPr/>
            <p:nvPr/>
          </p:nvSpPr>
          <p:spPr>
            <a:xfrm>
              <a:off x="2109600" y="3231306"/>
              <a:ext cx="9540000" cy="7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595030CD-6589-08C5-A119-0E16A177CD9F}"/>
                </a:ext>
              </a:extLst>
            </p:cNvPr>
            <p:cNvSpPr/>
            <p:nvPr/>
          </p:nvSpPr>
          <p:spPr>
            <a:xfrm>
              <a:off x="2109600" y="3231306"/>
              <a:ext cx="5133600" cy="720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024A2615-9C16-AD01-D7D2-21B5EB543DAC}"/>
                </a:ext>
              </a:extLst>
            </p:cNvPr>
            <p:cNvSpPr/>
            <p:nvPr/>
          </p:nvSpPr>
          <p:spPr>
            <a:xfrm>
              <a:off x="2109600" y="3339846"/>
              <a:ext cx="51336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53.8%</a:t>
              </a:r>
              <a:endParaRPr 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F7AB6E8-2FE0-C3A4-F370-14A3C979FB0C}"/>
              </a:ext>
            </a:extLst>
          </p:cNvPr>
          <p:cNvGrpSpPr/>
          <p:nvPr/>
        </p:nvGrpSpPr>
        <p:grpSpPr>
          <a:xfrm>
            <a:off x="360047" y="4429123"/>
            <a:ext cx="11289553" cy="720000"/>
            <a:chOff x="360047" y="4572000"/>
            <a:chExt cx="11289553" cy="720000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435250F9-990D-4099-0F5E-3F5C9170EA08}"/>
                </a:ext>
              </a:extLst>
            </p:cNvPr>
            <p:cNvSpPr/>
            <p:nvPr/>
          </p:nvSpPr>
          <p:spPr>
            <a:xfrm>
              <a:off x="360047" y="4657680"/>
              <a:ext cx="16459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b="1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Greedy</a:t>
              </a:r>
              <a:endParaRPr lang="en-US" sz="1200" b="1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pPr marL="0" indent="0" algn="r">
                <a:buNone/>
              </a:pPr>
              <a:r>
                <a:rPr lang="en-US" sz="1200" b="1" dirty="0"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(UpperBound)</a:t>
              </a:r>
              <a:endParaRPr lang="en-US" sz="1200" b="1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2" name="Shape 11">
              <a:extLst>
                <a:ext uri="{FF2B5EF4-FFF2-40B4-BE49-F238E27FC236}">
                  <a16:creationId xmlns:a16="http://schemas.microsoft.com/office/drawing/2014/main" id="{40648474-B802-877B-97FE-6E8A9844B1A5}"/>
                </a:ext>
              </a:extLst>
            </p:cNvPr>
            <p:cNvSpPr/>
            <p:nvPr/>
          </p:nvSpPr>
          <p:spPr>
            <a:xfrm>
              <a:off x="2109600" y="4572000"/>
              <a:ext cx="9540000" cy="7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Shape 12">
              <a:extLst>
                <a:ext uri="{FF2B5EF4-FFF2-40B4-BE49-F238E27FC236}">
                  <a16:creationId xmlns:a16="http://schemas.microsoft.com/office/drawing/2014/main" id="{9D42F7FC-5230-C344-50E0-226619167709}"/>
                </a:ext>
              </a:extLst>
            </p:cNvPr>
            <p:cNvSpPr/>
            <p:nvPr/>
          </p:nvSpPr>
          <p:spPr>
            <a:xfrm>
              <a:off x="2109600" y="4572000"/>
              <a:ext cx="93960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DA670A5C-A952-DE93-095B-9E7692FB2382}"/>
                </a:ext>
              </a:extLst>
            </p:cNvPr>
            <p:cNvSpPr/>
            <p:nvPr/>
          </p:nvSpPr>
          <p:spPr>
            <a:xfrm>
              <a:off x="2109600" y="4680540"/>
              <a:ext cx="93960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Malgun Gothic" pitchFamily="34" charset="-120"/>
                </a:rPr>
                <a:t>98.5%</a:t>
              </a:r>
              <a:endParaRPr 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2" name="Google Shape;157;p18">
            <a:extLst>
              <a:ext uri="{FF2B5EF4-FFF2-40B4-BE49-F238E27FC236}">
                <a16:creationId xmlns:a16="http://schemas.microsoft.com/office/drawing/2014/main" id="{B9092132-4C2A-62D1-91F9-1DC807B88188}"/>
              </a:ext>
            </a:extLst>
          </p:cNvPr>
          <p:cNvSpPr txBox="1"/>
          <p:nvPr/>
        </p:nvSpPr>
        <p:spPr>
          <a:xfrm>
            <a:off x="571500" y="5688000"/>
            <a:ext cx="11049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475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DQN의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성과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: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무작위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탐색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대비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약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220%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이상의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효율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향상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달성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 | 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분자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구조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(Fingerprint)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만으로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목표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범위를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추적하는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능력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입증</a:t>
            </a:r>
            <a:endParaRPr lang="en-US" altLang="ko-KR" sz="14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D002521A-2FB2-20B1-BE7F-FB6276FFC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pPr/>
              <a:t>11</a:t>
            </a:fld>
            <a:endParaRPr kumimoji="1" lang="ko-KR" altLang="en-US" sz="40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7226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538845"/>
              </p:ext>
            </p:extLst>
          </p:nvPr>
        </p:nvGraphicFramePr>
        <p:xfrm>
          <a:off x="540000" y="4579742"/>
          <a:ext cx="11109600" cy="146304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방법</a:t>
                      </a:r>
                      <a:endParaRPr lang="en-US" sz="12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Malgun Gothic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평균 Target Hits / 50 step</a:t>
                      </a:r>
                      <a:endParaRPr lang="en-US" sz="12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Malgun Gothic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특징</a:t>
                      </a:r>
                      <a:endParaRPr lang="en-US" sz="12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Malgun Gothic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Random Search</a:t>
                      </a:r>
                      <a:endParaRPr lang="en-US" sz="12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Malgun Gothic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12.74 ± 3.62</a:t>
                      </a:r>
                      <a:endParaRPr lang="en-US" sz="12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Malgun Gothic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무작위 탐색 (23% 확률 기준)</a:t>
                      </a:r>
                      <a:endParaRPr lang="en-US" sz="12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Malgun Gothic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DQN Agent</a:t>
                      </a:r>
                      <a:endParaRPr lang="en-US" sz="12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Malgun Gothic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26.64 ± 10.91</a:t>
                      </a:r>
                      <a:endParaRPr lang="en-US" sz="12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Malgun Gothic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구조 정보만으로 학습 → Random 대비 약 2배</a:t>
                      </a:r>
                      <a:endParaRPr lang="en-US" sz="12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Malgun Gothic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Greedy (Upper)</a:t>
                      </a:r>
                      <a:endParaRPr lang="en-US" sz="12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Malgun Gothic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49.42 ± 0.87</a:t>
                      </a:r>
                      <a:endParaRPr lang="en-US" sz="12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Malgun Gothic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실제 Dipole 값 직접 참조 → Upper Bound</a:t>
                      </a:r>
                      <a:endParaRPr lang="en-US" sz="12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Malgun Gothic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제목 5">
            <a:extLst>
              <a:ext uri="{FF2B5EF4-FFF2-40B4-BE49-F238E27FC236}">
                <a16:creationId xmlns:a16="http://schemas.microsoft.com/office/drawing/2014/main" id="{9E4C46A5-4E06-7508-A37A-ED15AC086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ko-KR" altLang="en-US" dirty="0">
                <a:cs typeface="Malgun Gothic" pitchFamily="34" charset="-120"/>
              </a:rPr>
              <a:t>다양한 </a:t>
            </a:r>
            <a:r>
              <a:rPr lang="en-US" altLang="ko-KR" dirty="0" err="1">
                <a:cs typeface="Malgun Gothic" pitchFamily="34" charset="-120"/>
              </a:rPr>
              <a:t>알고리즘</a:t>
            </a:r>
            <a:r>
              <a:rPr lang="en-US" altLang="ko-KR" dirty="0">
                <a:cs typeface="Malgun Gothic" pitchFamily="34" charset="-120"/>
              </a:rPr>
              <a:t> </a:t>
            </a:r>
            <a:r>
              <a:rPr lang="ko-KR" altLang="en-US" dirty="0">
                <a:cs typeface="Malgun Gothic" pitchFamily="34" charset="-120"/>
              </a:rPr>
              <a:t>결과 </a:t>
            </a:r>
            <a:r>
              <a:rPr lang="en-US" altLang="ko-KR" dirty="0" err="1">
                <a:cs typeface="Malgun Gothic" pitchFamily="34" charset="-120"/>
              </a:rPr>
              <a:t>비교</a:t>
            </a: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84B7C28-A206-1931-F37E-2EA799BFF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96000"/>
            <a:ext cx="5400000" cy="3000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463F68A-6397-985C-852E-9B5CD9C6D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600" y="1296000"/>
            <a:ext cx="5400000" cy="30000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FDE69-22D0-0925-A5E8-2B6B7587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pPr/>
              <a:t>12</a:t>
            </a:fld>
            <a:endParaRPr kumimoji="1" lang="ko-KR" altLang="en-US" sz="40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E32F2-B53C-4855-8CB4-1697C9E65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cs typeface="Malgun Gothic" pitchFamily="34" charset="-120"/>
              </a:rPr>
              <a:t>DQN </a:t>
            </a:r>
            <a:r>
              <a:rPr lang="en-US" altLang="ko-KR" dirty="0" err="1">
                <a:cs typeface="Malgun Gothic" pitchFamily="34" charset="-120"/>
              </a:rPr>
              <a:t>탐색</a:t>
            </a:r>
            <a:r>
              <a:rPr lang="en-US" altLang="ko-KR" dirty="0">
                <a:cs typeface="Malgun Gothic" pitchFamily="34" charset="-120"/>
              </a:rPr>
              <a:t> </a:t>
            </a:r>
            <a:r>
              <a:rPr lang="en-US" altLang="ko-KR" dirty="0" err="1">
                <a:cs typeface="Malgun Gothic" pitchFamily="34" charset="-120"/>
              </a:rPr>
              <a:t>궤적</a:t>
            </a:r>
            <a:r>
              <a:rPr lang="en-US" altLang="ko-KR" dirty="0">
                <a:cs typeface="Malgun Gothic" pitchFamily="34" charset="-120"/>
              </a:rPr>
              <a:t> </a:t>
            </a:r>
            <a:r>
              <a:rPr lang="en-US" altLang="ko-KR" dirty="0" err="1">
                <a:cs typeface="Malgun Gothic" pitchFamily="34" charset="-120"/>
              </a:rPr>
              <a:t>분석</a:t>
            </a:r>
            <a:r>
              <a:rPr lang="en-US" altLang="ko-KR" dirty="0">
                <a:cs typeface="Malgun Gothic" pitchFamily="34" charset="-120"/>
              </a:rPr>
              <a:t>  (Case Study)</a:t>
            </a:r>
            <a:endParaRPr kumimoji="1" lang="ko-KR" altLang="en-US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FF86EDAE-3A8A-5B7D-8F66-834D7D932BFF}"/>
              </a:ext>
            </a:extLst>
          </p:cNvPr>
          <p:cNvSpPr/>
          <p:nvPr/>
        </p:nvSpPr>
        <p:spPr>
          <a:xfrm>
            <a:off x="540000" y="1080000"/>
            <a:ext cx="900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목표 범위 [2.0~3.0 Debye] 도달 step만 표시  |  실제 evaluate.py 실행 결과</a:t>
            </a:r>
            <a:endParaRPr lang="en-US" sz="1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D17A565-5924-ED85-A265-8167C49EC3EC}"/>
              </a:ext>
            </a:extLst>
          </p:cNvPr>
          <p:cNvSpPr/>
          <p:nvPr/>
        </p:nvSpPr>
        <p:spPr>
          <a:xfrm>
            <a:off x="540000" y="1548000"/>
            <a:ext cx="3420000" cy="4140000"/>
          </a:xfrm>
          <a:prstGeom prst="rect">
            <a:avLst/>
          </a:prstGeom>
          <a:solidFill>
            <a:srgbClr val="F2F5FA"/>
          </a:solidFill>
          <a:ln>
            <a:solidFill>
              <a:schemeClr val="bg2"/>
            </a:solidFill>
          </a:ln>
          <a:effectLst>
            <a:outerShdw blurRad="101600" dist="38100" dir="81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1A92B86-BC4F-C6CC-9965-EB18DCB07BD7}"/>
              </a:ext>
            </a:extLst>
          </p:cNvPr>
          <p:cNvSpPr/>
          <p:nvPr/>
        </p:nvSpPr>
        <p:spPr>
          <a:xfrm>
            <a:off x="4386000" y="1548000"/>
            <a:ext cx="3420000" cy="4140000"/>
          </a:xfrm>
          <a:prstGeom prst="rect">
            <a:avLst/>
          </a:prstGeom>
          <a:solidFill>
            <a:srgbClr val="F2F5FA"/>
          </a:solidFill>
          <a:ln>
            <a:solidFill>
              <a:schemeClr val="bg2"/>
            </a:solidFill>
          </a:ln>
          <a:effectLst>
            <a:outerShdw blurRad="101600" dist="38100" dir="81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51086EA1-BEE2-C610-6ECA-CC7BDD2E9601}"/>
              </a:ext>
            </a:extLst>
          </p:cNvPr>
          <p:cNvSpPr/>
          <p:nvPr/>
        </p:nvSpPr>
        <p:spPr>
          <a:xfrm>
            <a:off x="8229600" y="1548000"/>
            <a:ext cx="3420000" cy="4140000"/>
          </a:xfrm>
          <a:prstGeom prst="rect">
            <a:avLst/>
          </a:prstGeom>
          <a:solidFill>
            <a:srgbClr val="F2F5FA"/>
          </a:solidFill>
          <a:ln>
            <a:solidFill>
              <a:schemeClr val="bg2"/>
            </a:solidFill>
          </a:ln>
          <a:effectLst>
            <a:outerShdw blurRad="101600" dist="38100" dir="81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8BD8F9-5657-8E3A-F1D6-5015795468FD}"/>
              </a:ext>
            </a:extLst>
          </p:cNvPr>
          <p:cNvSpPr txBox="1"/>
          <p:nvPr/>
        </p:nvSpPr>
        <p:spPr>
          <a:xfrm>
            <a:off x="641232" y="1716954"/>
            <a:ext cx="3240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12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Episode 1</a:t>
            </a:r>
            <a:endParaRPr lang="en-US" altLang="ko-KR" sz="1200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7603F-D288-BB96-D86B-F96EAF93E406}"/>
              </a:ext>
            </a:extLst>
          </p:cNvPr>
          <p:cNvSpPr txBox="1"/>
          <p:nvPr/>
        </p:nvSpPr>
        <p:spPr>
          <a:xfrm>
            <a:off x="4474800" y="1716954"/>
            <a:ext cx="3240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12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Episode 2</a:t>
            </a:r>
            <a:endParaRPr lang="en-US" altLang="ko-KR" sz="1200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525AA-1486-FFE9-06BB-D73B39BC27C3}"/>
              </a:ext>
            </a:extLst>
          </p:cNvPr>
          <p:cNvSpPr txBox="1"/>
          <p:nvPr/>
        </p:nvSpPr>
        <p:spPr>
          <a:xfrm>
            <a:off x="8337600" y="1716954"/>
            <a:ext cx="3240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12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Episode 3</a:t>
            </a:r>
            <a:endParaRPr lang="en-US" altLang="ko-KR" sz="1200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0517262-C2D3-62DF-3138-04DAD87A209E}"/>
              </a:ext>
            </a:extLst>
          </p:cNvPr>
          <p:cNvSpPr/>
          <p:nvPr/>
        </p:nvSpPr>
        <p:spPr>
          <a:xfrm>
            <a:off x="641232" y="2057252"/>
            <a:ext cx="324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ea typeface="Consolas" pitchFamily="34" charset="-122"/>
                <a:cs typeface="Courier New" panose="02070309020205020404" pitchFamily="49" charset="0"/>
              </a:rPr>
              <a:t>Start: CC1OC1C(O)C=O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AB47D3F-7973-AFC4-A55B-383E998B4559}"/>
              </a:ext>
            </a:extLst>
          </p:cNvPr>
          <p:cNvSpPr/>
          <p:nvPr/>
        </p:nvSpPr>
        <p:spPr>
          <a:xfrm>
            <a:off x="641232" y="2331572"/>
            <a:ext cx="324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2.0817 D (in target)</a:t>
            </a:r>
            <a:endParaRPr lang="en-US" sz="1200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2CBF4C97-C62E-4B38-3F04-7EA2C0C27B10}"/>
              </a:ext>
            </a:extLst>
          </p:cNvPr>
          <p:cNvSpPr/>
          <p:nvPr/>
        </p:nvSpPr>
        <p:spPr>
          <a:xfrm>
            <a:off x="4474800" y="2057252"/>
            <a:ext cx="324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ea typeface="Consolas" pitchFamily="34" charset="-122"/>
                <a:cs typeface="Courier New" panose="02070309020205020404" pitchFamily="49" charset="0"/>
              </a:rPr>
              <a:t>Start: CN1C2C3CC3C12C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10F5E48B-2EB3-55C8-2ED6-28007CC9131E}"/>
              </a:ext>
            </a:extLst>
          </p:cNvPr>
          <p:cNvSpPr/>
          <p:nvPr/>
        </p:nvSpPr>
        <p:spPr>
          <a:xfrm>
            <a:off x="4474800" y="2331572"/>
            <a:ext cx="324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0.8429 D (out of target)</a:t>
            </a:r>
            <a:endParaRPr lang="en-US" sz="1200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xt 33">
            <a:extLst>
              <a:ext uri="{FF2B5EF4-FFF2-40B4-BE49-F238E27FC236}">
                <a16:creationId xmlns:a16="http://schemas.microsoft.com/office/drawing/2014/main" id="{53C2CCB1-F497-FE89-56B3-F1E14D065B0E}"/>
              </a:ext>
            </a:extLst>
          </p:cNvPr>
          <p:cNvSpPr/>
          <p:nvPr/>
        </p:nvSpPr>
        <p:spPr>
          <a:xfrm>
            <a:off x="8337600" y="2057252"/>
            <a:ext cx="324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ea typeface="Consolas" pitchFamily="34" charset="-122"/>
                <a:cs typeface="Courier New" panose="02070309020205020404" pitchFamily="49" charset="0"/>
              </a:rPr>
              <a:t>Start: CC(C)CC(=O)C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 34">
            <a:extLst>
              <a:ext uri="{FF2B5EF4-FFF2-40B4-BE49-F238E27FC236}">
                <a16:creationId xmlns:a16="http://schemas.microsoft.com/office/drawing/2014/main" id="{272DC10F-6523-2BCE-8A28-16860A549FB4}"/>
              </a:ext>
            </a:extLst>
          </p:cNvPr>
          <p:cNvSpPr/>
          <p:nvPr/>
        </p:nvSpPr>
        <p:spPr>
          <a:xfrm>
            <a:off x="8337600" y="2331572"/>
            <a:ext cx="324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2.4719 D (in target)</a:t>
            </a:r>
            <a:endParaRPr lang="en-US" sz="1200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495700EA-B8D3-8398-0BAD-9DD6E8BDD044}"/>
              </a:ext>
            </a:extLst>
          </p:cNvPr>
          <p:cNvSpPr/>
          <p:nvPr/>
        </p:nvSpPr>
        <p:spPr>
          <a:xfrm>
            <a:off x="630000" y="2639896"/>
            <a:ext cx="324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총 31 / 50 step 적중</a:t>
            </a:r>
            <a:endParaRPr lang="en-US" sz="1200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800907D2-55F3-44D2-2B9D-A6B61F49D753}"/>
              </a:ext>
            </a:extLst>
          </p:cNvPr>
          <p:cNvSpPr/>
          <p:nvPr/>
        </p:nvSpPr>
        <p:spPr>
          <a:xfrm>
            <a:off x="4474800" y="2645615"/>
            <a:ext cx="324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총 28 / 50 step 적중</a:t>
            </a:r>
            <a:endParaRPr lang="en-US" sz="1200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" name="Text 36">
            <a:extLst>
              <a:ext uri="{FF2B5EF4-FFF2-40B4-BE49-F238E27FC236}">
                <a16:creationId xmlns:a16="http://schemas.microsoft.com/office/drawing/2014/main" id="{C83F5742-83B9-7F01-1941-92B0CDD192F3}"/>
              </a:ext>
            </a:extLst>
          </p:cNvPr>
          <p:cNvSpPr/>
          <p:nvPr/>
        </p:nvSpPr>
        <p:spPr>
          <a:xfrm>
            <a:off x="8319600" y="2639896"/>
            <a:ext cx="324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총 30 / 50 step 적중</a:t>
            </a:r>
            <a:endParaRPr lang="en-US" sz="1200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C32FEF2D-2B4F-BEBA-2102-4E69178EC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403775"/>
              </p:ext>
            </p:extLst>
          </p:nvPr>
        </p:nvGraphicFramePr>
        <p:xfrm>
          <a:off x="684000" y="3216058"/>
          <a:ext cx="3132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998264224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488126711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143977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Step</a:t>
                      </a:r>
                      <a:endParaRPr lang="ko-KR" altLang="en-US" sz="11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Dipole</a:t>
                      </a:r>
                      <a:endParaRPr lang="ko-KR" altLang="en-US" sz="11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SMILES</a:t>
                      </a:r>
                      <a:endParaRPr lang="ko-KR" altLang="en-US" sz="11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89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2.1604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CC1(C)OCC1O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10922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2.6456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CC1(C)COC1CO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244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2.5905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CCC(C)CC(C)=O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5839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28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2.8672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COC(=O)CO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9484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2.9464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CC(O)C(C)=O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4644445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09CFF373-F8BF-1E85-C176-D29FB084C4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940856"/>
              </p:ext>
            </p:extLst>
          </p:nvPr>
        </p:nvGraphicFramePr>
        <p:xfrm>
          <a:off x="4530000" y="3216058"/>
          <a:ext cx="3132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92618739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01971673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1391143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Step</a:t>
                      </a:r>
                      <a:endParaRPr lang="ko-KR" altLang="en-US" sz="11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Dipole</a:t>
                      </a:r>
                      <a:endParaRPr lang="ko-KR" altLang="en-US" sz="11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SMILES</a:t>
                      </a:r>
                      <a:endParaRPr lang="ko-KR" altLang="en-US" sz="11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413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2.3236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CC12OCC1(O)C2O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06487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2.5190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OCC1C2CN1C2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853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2.7608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CC(=O)CC1(C)CO1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27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26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2.8672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COC(=O)CO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026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2.3473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CCOC(=N)C(C)=O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942682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8487AEB-7F79-2D63-1E52-0F4359F3C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333890"/>
              </p:ext>
            </p:extLst>
          </p:nvPr>
        </p:nvGraphicFramePr>
        <p:xfrm>
          <a:off x="8376000" y="3216058"/>
          <a:ext cx="3123568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568">
                  <a:extLst>
                    <a:ext uri="{9D8B030D-6E8A-4147-A177-3AD203B41FA5}">
                      <a16:colId xmlns:a16="http://schemas.microsoft.com/office/drawing/2014/main" val="92618739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01971673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1391143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Step</a:t>
                      </a:r>
                      <a:endParaRPr lang="ko-KR" altLang="en-US" sz="11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Dipole</a:t>
                      </a:r>
                      <a:endParaRPr lang="ko-KR" altLang="en-US" sz="11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SMILES</a:t>
                      </a:r>
                      <a:endParaRPr lang="ko-KR" altLang="en-US" sz="11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413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2.8263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CCC(O)C(C)=O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06487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2.3699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COCCC(=O)C#C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853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22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2.6579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O=CC12CC3OC1C23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27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27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2.6393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O=CC12COC1CN2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026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2.6579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Consolas" pitchFamily="34" charset="-122"/>
                          <a:cs typeface="Courier New" panose="02070309020205020404" pitchFamily="49" charset="0"/>
                        </a:rPr>
                        <a:t>O=CC12CC3OC1C23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942682"/>
                  </a:ext>
                </a:extLst>
              </a:tr>
            </a:tbl>
          </a:graphicData>
        </a:graphic>
      </p:graphicFrame>
      <p:sp>
        <p:nvSpPr>
          <p:cNvPr id="22" name="Text 46">
            <a:extLst>
              <a:ext uri="{FF2B5EF4-FFF2-40B4-BE49-F238E27FC236}">
                <a16:creationId xmlns:a16="http://schemas.microsoft.com/office/drawing/2014/main" id="{9ED68A43-1D8D-F855-D6BA-0E5E4EC7FA62}"/>
              </a:ext>
            </a:extLst>
          </p:cNvPr>
          <p:cNvSpPr/>
          <p:nvPr/>
        </p:nvSpPr>
        <p:spPr>
          <a:xfrm>
            <a:off x="540000" y="5856954"/>
            <a:ext cx="9108000" cy="317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DQN Agent 평균 Target Hits: 28.44 / 50 step  |  Random 13.22 대비 약 2.2배  |  분자 구조(Fingerprint)만으로 목표 범위 탐색 학습</a:t>
            </a:r>
            <a:endParaRPr lang="en-US" sz="1200" b="1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25F0B8FA-9CED-DAB3-AB39-C326E52C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pPr/>
              <a:t>13</a:t>
            </a:fld>
            <a:endParaRPr kumimoji="1" lang="ko-KR" altLang="en-US" sz="40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2743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4D8BE1E-80B5-9A76-779F-921BB2CF0B00}"/>
              </a:ext>
            </a:extLst>
          </p:cNvPr>
          <p:cNvSpPr/>
          <p:nvPr/>
        </p:nvSpPr>
        <p:spPr>
          <a:xfrm>
            <a:off x="540500" y="2204006"/>
            <a:ext cx="3420000" cy="2880000"/>
          </a:xfrm>
          <a:prstGeom prst="roundRect">
            <a:avLst>
              <a:gd name="adj" fmla="val 5346"/>
            </a:avLst>
          </a:prstGeom>
          <a:solidFill>
            <a:srgbClr val="F2F5FA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779D598-E74F-531A-729D-D08C3DAF875C}"/>
              </a:ext>
            </a:extLst>
          </p:cNvPr>
          <p:cNvSpPr/>
          <p:nvPr/>
        </p:nvSpPr>
        <p:spPr>
          <a:xfrm>
            <a:off x="4322400" y="2204006"/>
            <a:ext cx="3420000" cy="2880000"/>
          </a:xfrm>
          <a:prstGeom prst="roundRect">
            <a:avLst>
              <a:gd name="adj" fmla="val 5346"/>
            </a:avLst>
          </a:prstGeom>
          <a:solidFill>
            <a:srgbClr val="F2F5FA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C77460E3-2CB5-ECC2-6C37-4888604CF645}"/>
              </a:ext>
            </a:extLst>
          </p:cNvPr>
          <p:cNvSpPr/>
          <p:nvPr/>
        </p:nvSpPr>
        <p:spPr>
          <a:xfrm>
            <a:off x="8099850" y="2204006"/>
            <a:ext cx="3420000" cy="2880000"/>
          </a:xfrm>
          <a:prstGeom prst="roundRect">
            <a:avLst>
              <a:gd name="adj" fmla="val 5346"/>
            </a:avLst>
          </a:prstGeom>
          <a:solidFill>
            <a:srgbClr val="F2F5FA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13899B-9B8A-4EDE-F972-01C05DE0F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결론 및 향후 과제</a:t>
            </a:r>
          </a:p>
        </p:txBody>
      </p:sp>
      <p:sp>
        <p:nvSpPr>
          <p:cNvPr id="6" name="Google Shape;220;p22">
            <a:extLst>
              <a:ext uri="{FF2B5EF4-FFF2-40B4-BE49-F238E27FC236}">
                <a16:creationId xmlns:a16="http://schemas.microsoft.com/office/drawing/2014/main" id="{AF2603E6-CF0F-376A-276D-9C84CE746068}"/>
              </a:ext>
            </a:extLst>
          </p:cNvPr>
          <p:cNvSpPr txBox="1"/>
          <p:nvPr/>
        </p:nvSpPr>
        <p:spPr>
          <a:xfrm>
            <a:off x="722400" y="2340000"/>
            <a:ext cx="3240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Urbanist Medium"/>
                <a:sym typeface="Urbanist Medium"/>
              </a:rPr>
              <a:t>연구</a:t>
            </a:r>
            <a:r>
              <a:rPr lang="en-US" sz="1400" b="1" i="0" u="none" strike="noStrike" cap="none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Urbanist Medium"/>
                <a:sym typeface="Urbanist Medium"/>
              </a:rPr>
              <a:t> </a:t>
            </a:r>
            <a:r>
              <a:rPr lang="en-US" sz="1400" b="1" i="0" u="none" strike="noStrike" cap="none" dirty="0" err="1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Urbanist Medium"/>
                <a:sym typeface="Urbanist Medium"/>
              </a:rPr>
              <a:t>성과</a:t>
            </a:r>
            <a:endParaRPr sz="1400" b="1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Google Shape;221;p22">
            <a:extLst>
              <a:ext uri="{FF2B5EF4-FFF2-40B4-BE49-F238E27FC236}">
                <a16:creationId xmlns:a16="http://schemas.microsoft.com/office/drawing/2014/main" id="{82F3FBC6-3A45-0C05-F04D-38B4217F2B0A}"/>
              </a:ext>
            </a:extLst>
          </p:cNvPr>
          <p:cNvSpPr txBox="1"/>
          <p:nvPr/>
        </p:nvSpPr>
        <p:spPr>
          <a:xfrm>
            <a:off x="902400" y="3060000"/>
            <a:ext cx="30600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QM9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기반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화학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공간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탐색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환경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구축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Random Forest Surrogate Model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구축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(R²=0.7185)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DQN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기반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목표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물성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탐색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정책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학습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Random Search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대비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약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2배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이상의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탐색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효율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달성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Google Shape;222;p22">
            <a:extLst>
              <a:ext uri="{FF2B5EF4-FFF2-40B4-BE49-F238E27FC236}">
                <a16:creationId xmlns:a16="http://schemas.microsoft.com/office/drawing/2014/main" id="{56752F63-6DC0-0ACC-3A66-CAB7E5D986C1}"/>
              </a:ext>
            </a:extLst>
          </p:cNvPr>
          <p:cNvSpPr txBox="1"/>
          <p:nvPr/>
        </p:nvSpPr>
        <p:spPr>
          <a:xfrm>
            <a:off x="4497950" y="2340000"/>
            <a:ext cx="3240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Urbanist Medium"/>
                <a:sym typeface="Urbanist Medium"/>
              </a:rPr>
              <a:t>한계점</a:t>
            </a:r>
            <a:r>
              <a:rPr lang="en-US" sz="1400" b="1" i="0" u="none" strike="noStrike" cap="none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Urbanist Medium"/>
                <a:sym typeface="Urbanist Medium"/>
              </a:rPr>
              <a:t> </a:t>
            </a:r>
            <a:r>
              <a:rPr lang="en-US" sz="1400" b="1" i="0" u="none" strike="noStrike" cap="none" dirty="0" err="1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Urbanist Medium"/>
                <a:sym typeface="Urbanist Medium"/>
              </a:rPr>
              <a:t>고찰</a:t>
            </a:r>
            <a:endParaRPr sz="1400" b="1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Google Shape;223;p22">
            <a:extLst>
              <a:ext uri="{FF2B5EF4-FFF2-40B4-BE49-F238E27FC236}">
                <a16:creationId xmlns:a16="http://schemas.microsoft.com/office/drawing/2014/main" id="{E33441A3-46D8-8647-F2DB-B88C9C5FE68A}"/>
              </a:ext>
            </a:extLst>
          </p:cNvPr>
          <p:cNvSpPr txBox="1"/>
          <p:nvPr/>
        </p:nvSpPr>
        <p:spPr>
          <a:xfrm>
            <a:off x="4677300" y="3060000"/>
            <a:ext cx="30606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QM9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데이터셋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내부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탐색만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수행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b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</a:b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(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새로운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분자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생성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불가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)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Surrogate Model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오차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존재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(R²=0.72)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Google Shape;224;p22">
            <a:extLst>
              <a:ext uri="{FF2B5EF4-FFF2-40B4-BE49-F238E27FC236}">
                <a16:creationId xmlns:a16="http://schemas.microsoft.com/office/drawing/2014/main" id="{C1C8D39C-21D9-D509-39BB-C3E167CD8D3C}"/>
              </a:ext>
            </a:extLst>
          </p:cNvPr>
          <p:cNvSpPr txBox="1"/>
          <p:nvPr/>
        </p:nvSpPr>
        <p:spPr>
          <a:xfrm>
            <a:off x="8244400" y="2340000"/>
            <a:ext cx="3240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Urbanist Medium"/>
                <a:sym typeface="Urbanist Medium"/>
              </a:rPr>
              <a:t>발전</a:t>
            </a:r>
            <a:r>
              <a:rPr lang="en-US" sz="1400" b="1" i="0" u="none" strike="noStrike" cap="none" dirty="0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Urbanist Medium"/>
                <a:sym typeface="Urbanist Medium"/>
              </a:rPr>
              <a:t> </a:t>
            </a:r>
            <a:r>
              <a:rPr lang="en-US" sz="1400" b="1" i="0" u="none" strike="noStrike" cap="none" dirty="0" err="1">
                <a:solidFill>
                  <a:srgbClr val="1A56D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Urbanist Medium"/>
                <a:sym typeface="Urbanist Medium"/>
              </a:rPr>
              <a:t>방향</a:t>
            </a:r>
            <a:endParaRPr sz="1400" b="1" dirty="0">
              <a:solidFill>
                <a:srgbClr val="1A56DB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6AE383-421A-D11F-5596-62D20FE464FE}"/>
              </a:ext>
            </a:extLst>
          </p:cNvPr>
          <p:cNvSpPr txBox="1"/>
          <p:nvPr/>
        </p:nvSpPr>
        <p:spPr>
          <a:xfrm>
            <a:off x="8424400" y="3060000"/>
            <a:ext cx="3060000" cy="1168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Graph Neural Network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기반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물성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예측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적용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Molecular Generation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모델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결합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생성형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분자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역설계로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확장</a:t>
            </a: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250DB561-7FA8-5FB8-3120-FC14DAAE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pPr/>
              <a:t>14</a:t>
            </a:fld>
            <a:endParaRPr kumimoji="1" lang="ko-KR" altLang="en-US" sz="40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5413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4535AD-A854-05E1-74E1-5525CE13DDA4}"/>
              </a:ext>
            </a:extLst>
          </p:cNvPr>
          <p:cNvSpPr txBox="1"/>
          <p:nvPr/>
        </p:nvSpPr>
        <p:spPr>
          <a:xfrm>
            <a:off x="4494000" y="2907000"/>
            <a:ext cx="320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800" dirty="0">
                <a:solidFill>
                  <a:schemeClr val="accent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감사합니다</a:t>
            </a:r>
            <a:r>
              <a:rPr lang="en-US" altLang="ko-KR" sz="4800" dirty="0">
                <a:solidFill>
                  <a:schemeClr val="accent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Malgun Gothic" pitchFamily="34" charset="-120"/>
              </a:rPr>
              <a:t>.</a:t>
            </a:r>
            <a:endParaRPr lang="ko-KR" altLang="en-US" sz="4800" dirty="0">
              <a:solidFill>
                <a:schemeClr val="accent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1DC787-A6F5-6DF2-F739-876AC1A1E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B646-B345-AC44-B5C9-69350B59752E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7531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780</TotalTime>
  <Words>1490</Words>
  <Application>Microsoft Macintosh PowerPoint</Application>
  <PresentationFormat>와이드스크린</PresentationFormat>
  <Paragraphs>318</Paragraphs>
  <Slides>15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NanumGothic</vt:lpstr>
      <vt:lpstr>Malgun Gothic</vt:lpstr>
      <vt:lpstr>Malgun Gothic</vt:lpstr>
      <vt:lpstr>Arial</vt:lpstr>
      <vt:lpstr>Calibri</vt:lpstr>
      <vt:lpstr>Calibri Light</vt:lpstr>
      <vt:lpstr>Courier New</vt:lpstr>
      <vt:lpstr>Wingdings</vt:lpstr>
      <vt:lpstr>Office 2013 - 2022 테마</vt:lpstr>
      <vt:lpstr>강화학습 기반 분자 경로 탐색 및 물성 최적화</vt:lpstr>
      <vt:lpstr>주제 선정 배경</vt:lpstr>
      <vt:lpstr>사용 데이터셋: QM9</vt:lpstr>
      <vt:lpstr>실험 Setup</vt:lpstr>
      <vt:lpstr>Surrogate Model</vt:lpstr>
      <vt:lpstr>화학 공간 구축</vt:lpstr>
      <vt:lpstr>이웃 사전 계산 및 Action Space 구성</vt:lpstr>
      <vt:lpstr>강화학습 환경 설계</vt:lpstr>
      <vt:lpstr>DQN 적용</vt:lpstr>
      <vt:lpstr>학습 적중률 향상 추세</vt:lpstr>
      <vt:lpstr>알고리즘별 성과 분석</vt:lpstr>
      <vt:lpstr>다양한 알고리즘 결과 비교</vt:lpstr>
      <vt:lpstr>DQN 탐색 궤적 분석  (Case Study)</vt:lpstr>
      <vt:lpstr>결론 및 향후 과제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Junga Ryou</dc:creator>
  <cp:lastModifiedBy>Junga Ryou</cp:lastModifiedBy>
  <cp:revision>34</cp:revision>
  <dcterms:created xsi:type="dcterms:W3CDTF">2026-06-03T10:42:21Z</dcterms:created>
  <dcterms:modified xsi:type="dcterms:W3CDTF">2026-06-06T14:53:01Z</dcterms:modified>
</cp:coreProperties>
</file>